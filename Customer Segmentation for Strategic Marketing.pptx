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68" r:id="rId16"/>
    <p:sldId id="278" r:id="rId17"/>
    <p:sldId id="269" r:id="rId18"/>
    <p:sldId id="277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4F"/>
    <a:srgbClr val="27819E"/>
    <a:srgbClr val="003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708732-8849-A542-9CC3-5F24CB57269F}" type="doc">
      <dgm:prSet loTypeId="urn:microsoft.com/office/officeart/2005/8/layout/chevron1" loCatId="" qsTypeId="urn:microsoft.com/office/officeart/2005/8/quickstyle/simple1" qsCatId="simple" csTypeId="urn:microsoft.com/office/officeart/2005/8/colors/colorful1" csCatId="colorful" phldr="1"/>
      <dgm:spPr/>
    </dgm:pt>
    <dgm:pt modelId="{47742BEB-87F6-0343-A109-D504C9B3A77A}">
      <dgm:prSet phldrT="[Metin]"/>
      <dgm:spPr/>
      <dgm:t>
        <a:bodyPr/>
        <a:lstStyle/>
        <a:p>
          <a:r>
            <a:rPr lang="tr-TR" dirty="0"/>
            <a:t>Data Collection</a:t>
          </a:r>
        </a:p>
      </dgm:t>
    </dgm:pt>
    <dgm:pt modelId="{23E218B6-E3EA-A048-A8F4-F8FC52081862}" type="parTrans" cxnId="{48704D83-F51B-5540-AD64-7FC80973730D}">
      <dgm:prSet/>
      <dgm:spPr/>
      <dgm:t>
        <a:bodyPr/>
        <a:lstStyle/>
        <a:p>
          <a:endParaRPr lang="tr-TR"/>
        </a:p>
      </dgm:t>
    </dgm:pt>
    <dgm:pt modelId="{0DE75B95-743B-8E41-B1DC-6D4DF8AC7855}" type="sibTrans" cxnId="{48704D83-F51B-5540-AD64-7FC80973730D}">
      <dgm:prSet/>
      <dgm:spPr/>
      <dgm:t>
        <a:bodyPr/>
        <a:lstStyle/>
        <a:p>
          <a:endParaRPr lang="tr-TR"/>
        </a:p>
      </dgm:t>
    </dgm:pt>
    <dgm:pt modelId="{7CB2A937-EE64-F94E-A650-A9D27E958120}">
      <dgm:prSet phldrT="[Metin]" custT="1"/>
      <dgm:spPr/>
      <dgm:t>
        <a:bodyPr/>
        <a:lstStyle/>
        <a:p>
          <a:r>
            <a:rPr lang="tr-TR" sz="1000" dirty="0" err="1"/>
            <a:t>Segmentation</a:t>
          </a:r>
          <a:endParaRPr lang="tr-TR" sz="1000" dirty="0"/>
        </a:p>
      </dgm:t>
    </dgm:pt>
    <dgm:pt modelId="{5ED65C89-FBA0-4B44-A5A8-3B44552CC3FF}" type="parTrans" cxnId="{0B4CD581-323F-114F-B890-D11D2EE14FFF}">
      <dgm:prSet/>
      <dgm:spPr/>
      <dgm:t>
        <a:bodyPr/>
        <a:lstStyle/>
        <a:p>
          <a:endParaRPr lang="tr-TR"/>
        </a:p>
      </dgm:t>
    </dgm:pt>
    <dgm:pt modelId="{5CC31B3C-4D52-EB45-B912-44EB72CEE3FF}" type="sibTrans" cxnId="{0B4CD581-323F-114F-B890-D11D2EE14FFF}">
      <dgm:prSet/>
      <dgm:spPr/>
      <dgm:t>
        <a:bodyPr/>
        <a:lstStyle/>
        <a:p>
          <a:endParaRPr lang="tr-TR"/>
        </a:p>
      </dgm:t>
    </dgm:pt>
    <dgm:pt modelId="{3FDCC34C-9A74-9A41-9583-9A44D12EC44B}">
      <dgm:prSet phldrT="[Metin]"/>
      <dgm:spPr/>
      <dgm:t>
        <a:bodyPr/>
        <a:lstStyle/>
        <a:p>
          <a:r>
            <a:rPr lang="tr-TR" dirty="0" err="1"/>
            <a:t>Personalized</a:t>
          </a:r>
          <a:endParaRPr lang="tr-TR" dirty="0"/>
        </a:p>
      </dgm:t>
    </dgm:pt>
    <dgm:pt modelId="{CB94B9BB-7B75-614B-8F0C-F20DD5B884E2}" type="parTrans" cxnId="{1D673A1A-63FB-DA46-9D2D-E0B5465D9C3D}">
      <dgm:prSet/>
      <dgm:spPr/>
      <dgm:t>
        <a:bodyPr/>
        <a:lstStyle/>
        <a:p>
          <a:endParaRPr lang="tr-TR"/>
        </a:p>
      </dgm:t>
    </dgm:pt>
    <dgm:pt modelId="{BEED686D-F633-834A-8EDE-7502778E3178}" type="sibTrans" cxnId="{1D673A1A-63FB-DA46-9D2D-E0B5465D9C3D}">
      <dgm:prSet/>
      <dgm:spPr/>
      <dgm:t>
        <a:bodyPr/>
        <a:lstStyle/>
        <a:p>
          <a:endParaRPr lang="tr-TR"/>
        </a:p>
      </dgm:t>
    </dgm:pt>
    <dgm:pt modelId="{5E1D667A-9DFD-364D-ACEB-1D76DE336C1A}">
      <dgm:prSet/>
      <dgm:spPr/>
      <dgm:t>
        <a:bodyPr/>
        <a:lstStyle/>
        <a:p>
          <a:r>
            <a:rPr lang="tr-TR" dirty="0"/>
            <a:t>ROI</a:t>
          </a:r>
        </a:p>
      </dgm:t>
    </dgm:pt>
    <dgm:pt modelId="{1A3954DC-E34C-9B4B-9726-7A607A126DAB}" type="parTrans" cxnId="{567848CE-160D-6E41-9067-2356BFA62EED}">
      <dgm:prSet/>
      <dgm:spPr/>
      <dgm:t>
        <a:bodyPr/>
        <a:lstStyle/>
        <a:p>
          <a:endParaRPr lang="tr-TR"/>
        </a:p>
      </dgm:t>
    </dgm:pt>
    <dgm:pt modelId="{80A8D57C-4CEA-8941-960F-C28925580FE9}" type="sibTrans" cxnId="{567848CE-160D-6E41-9067-2356BFA62EED}">
      <dgm:prSet/>
      <dgm:spPr/>
      <dgm:t>
        <a:bodyPr/>
        <a:lstStyle/>
        <a:p>
          <a:endParaRPr lang="tr-TR"/>
        </a:p>
      </dgm:t>
    </dgm:pt>
    <dgm:pt modelId="{D7B8508A-F27D-DE41-9CBF-C494653E7D6F}" type="pres">
      <dgm:prSet presAssocID="{AE708732-8849-A542-9CC3-5F24CB57269F}" presName="Name0" presStyleCnt="0">
        <dgm:presLayoutVars>
          <dgm:dir/>
          <dgm:animLvl val="lvl"/>
          <dgm:resizeHandles val="exact"/>
        </dgm:presLayoutVars>
      </dgm:prSet>
      <dgm:spPr/>
    </dgm:pt>
    <dgm:pt modelId="{64E88F77-26C8-3347-AFB0-035644FC4638}" type="pres">
      <dgm:prSet presAssocID="{47742BEB-87F6-0343-A109-D504C9B3A77A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0464CD-A9EF-394C-869A-F1999D94CF28}" type="pres">
      <dgm:prSet presAssocID="{0DE75B95-743B-8E41-B1DC-6D4DF8AC7855}" presName="parTxOnlySpace" presStyleCnt="0"/>
      <dgm:spPr/>
    </dgm:pt>
    <dgm:pt modelId="{500F17FB-2AEE-844A-AED0-A20267B1418B}" type="pres">
      <dgm:prSet presAssocID="{7CB2A937-EE64-F94E-A650-A9D27E95812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BCEA2B-9F9B-964A-8DC5-24F426CB4B99}" type="pres">
      <dgm:prSet presAssocID="{5CC31B3C-4D52-EB45-B912-44EB72CEE3FF}" presName="parTxOnlySpace" presStyleCnt="0"/>
      <dgm:spPr/>
    </dgm:pt>
    <dgm:pt modelId="{791967BE-0BC4-0E41-9083-73D3E448FBA4}" type="pres">
      <dgm:prSet presAssocID="{3FDCC34C-9A74-9A41-9583-9A44D12EC44B}" presName="parTxOnly" presStyleLbl="node1" presStyleIdx="2" presStyleCnt="4" custLinFactNeighborX="1228" custLinFactNeighborY="-221">
        <dgm:presLayoutVars>
          <dgm:chMax val="0"/>
          <dgm:chPref val="0"/>
          <dgm:bulletEnabled val="1"/>
        </dgm:presLayoutVars>
      </dgm:prSet>
      <dgm:spPr/>
    </dgm:pt>
    <dgm:pt modelId="{EC83987D-63A2-4541-BFE4-17420143D5F2}" type="pres">
      <dgm:prSet presAssocID="{BEED686D-F633-834A-8EDE-7502778E3178}" presName="parTxOnlySpace" presStyleCnt="0"/>
      <dgm:spPr/>
    </dgm:pt>
    <dgm:pt modelId="{225C59F5-F686-9849-896F-EEE8D76AC55B}" type="pres">
      <dgm:prSet presAssocID="{5E1D667A-9DFD-364D-ACEB-1D76DE336C1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D673A1A-63FB-DA46-9D2D-E0B5465D9C3D}" srcId="{AE708732-8849-A542-9CC3-5F24CB57269F}" destId="{3FDCC34C-9A74-9A41-9583-9A44D12EC44B}" srcOrd="2" destOrd="0" parTransId="{CB94B9BB-7B75-614B-8F0C-F20DD5B884E2}" sibTransId="{BEED686D-F633-834A-8EDE-7502778E3178}"/>
    <dgm:cxn modelId="{196EC458-AD55-CB44-B0FC-1278545062A8}" type="presOf" srcId="{3FDCC34C-9A74-9A41-9583-9A44D12EC44B}" destId="{791967BE-0BC4-0E41-9083-73D3E448FBA4}" srcOrd="0" destOrd="0" presId="urn:microsoft.com/office/officeart/2005/8/layout/chevron1"/>
    <dgm:cxn modelId="{13538875-6239-564F-9F68-8370986FFC45}" type="presOf" srcId="{AE708732-8849-A542-9CC3-5F24CB57269F}" destId="{D7B8508A-F27D-DE41-9CBF-C494653E7D6F}" srcOrd="0" destOrd="0" presId="urn:microsoft.com/office/officeart/2005/8/layout/chevron1"/>
    <dgm:cxn modelId="{74AD047F-B249-6D44-B40E-75424F46F872}" type="presOf" srcId="{7CB2A937-EE64-F94E-A650-A9D27E958120}" destId="{500F17FB-2AEE-844A-AED0-A20267B1418B}" srcOrd="0" destOrd="0" presId="urn:microsoft.com/office/officeart/2005/8/layout/chevron1"/>
    <dgm:cxn modelId="{0B4CD581-323F-114F-B890-D11D2EE14FFF}" srcId="{AE708732-8849-A542-9CC3-5F24CB57269F}" destId="{7CB2A937-EE64-F94E-A650-A9D27E958120}" srcOrd="1" destOrd="0" parTransId="{5ED65C89-FBA0-4B44-A5A8-3B44552CC3FF}" sibTransId="{5CC31B3C-4D52-EB45-B912-44EB72CEE3FF}"/>
    <dgm:cxn modelId="{48704D83-F51B-5540-AD64-7FC80973730D}" srcId="{AE708732-8849-A542-9CC3-5F24CB57269F}" destId="{47742BEB-87F6-0343-A109-D504C9B3A77A}" srcOrd="0" destOrd="0" parTransId="{23E218B6-E3EA-A048-A8F4-F8FC52081862}" sibTransId="{0DE75B95-743B-8E41-B1DC-6D4DF8AC7855}"/>
    <dgm:cxn modelId="{07950EC9-CC67-5B4A-8A82-E4F03F76AA10}" type="presOf" srcId="{47742BEB-87F6-0343-A109-D504C9B3A77A}" destId="{64E88F77-26C8-3347-AFB0-035644FC4638}" srcOrd="0" destOrd="0" presId="urn:microsoft.com/office/officeart/2005/8/layout/chevron1"/>
    <dgm:cxn modelId="{567848CE-160D-6E41-9067-2356BFA62EED}" srcId="{AE708732-8849-A542-9CC3-5F24CB57269F}" destId="{5E1D667A-9DFD-364D-ACEB-1D76DE336C1A}" srcOrd="3" destOrd="0" parTransId="{1A3954DC-E34C-9B4B-9726-7A607A126DAB}" sibTransId="{80A8D57C-4CEA-8941-960F-C28925580FE9}"/>
    <dgm:cxn modelId="{8BF5A7E8-E71A-5542-BED2-70C52D664E69}" type="presOf" srcId="{5E1D667A-9DFD-364D-ACEB-1D76DE336C1A}" destId="{225C59F5-F686-9849-896F-EEE8D76AC55B}" srcOrd="0" destOrd="0" presId="urn:microsoft.com/office/officeart/2005/8/layout/chevron1"/>
    <dgm:cxn modelId="{00B2886A-9147-EE4D-9F14-1F124E78B0DC}" type="presParOf" srcId="{D7B8508A-F27D-DE41-9CBF-C494653E7D6F}" destId="{64E88F77-26C8-3347-AFB0-035644FC4638}" srcOrd="0" destOrd="0" presId="urn:microsoft.com/office/officeart/2005/8/layout/chevron1"/>
    <dgm:cxn modelId="{E159AE88-20ED-9E42-A147-8F06F1FB4F00}" type="presParOf" srcId="{D7B8508A-F27D-DE41-9CBF-C494653E7D6F}" destId="{380464CD-A9EF-394C-869A-F1999D94CF28}" srcOrd="1" destOrd="0" presId="urn:microsoft.com/office/officeart/2005/8/layout/chevron1"/>
    <dgm:cxn modelId="{E1FB9F57-443B-E84E-8BDC-F829F044F231}" type="presParOf" srcId="{D7B8508A-F27D-DE41-9CBF-C494653E7D6F}" destId="{500F17FB-2AEE-844A-AED0-A20267B1418B}" srcOrd="2" destOrd="0" presId="urn:microsoft.com/office/officeart/2005/8/layout/chevron1"/>
    <dgm:cxn modelId="{1C42A1C0-A9F9-7247-8D2E-5ADFF6EA441F}" type="presParOf" srcId="{D7B8508A-F27D-DE41-9CBF-C494653E7D6F}" destId="{5DBCEA2B-9F9B-964A-8DC5-24F426CB4B99}" srcOrd="3" destOrd="0" presId="urn:microsoft.com/office/officeart/2005/8/layout/chevron1"/>
    <dgm:cxn modelId="{6FE33661-3F87-2349-89FB-913E595F972D}" type="presParOf" srcId="{D7B8508A-F27D-DE41-9CBF-C494653E7D6F}" destId="{791967BE-0BC4-0E41-9083-73D3E448FBA4}" srcOrd="4" destOrd="0" presId="urn:microsoft.com/office/officeart/2005/8/layout/chevron1"/>
    <dgm:cxn modelId="{274E1B73-B2B6-6B41-ABD6-DB4AC80D4AE0}" type="presParOf" srcId="{D7B8508A-F27D-DE41-9CBF-C494653E7D6F}" destId="{EC83987D-63A2-4541-BFE4-17420143D5F2}" srcOrd="5" destOrd="0" presId="urn:microsoft.com/office/officeart/2005/8/layout/chevron1"/>
    <dgm:cxn modelId="{A3D1594A-65C2-6240-A542-4C871CB02828}" type="presParOf" srcId="{D7B8508A-F27D-DE41-9CBF-C494653E7D6F}" destId="{225C59F5-F686-9849-896F-EEE8D76AC55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88F77-26C8-3347-AFB0-035644FC4638}">
      <dsp:nvSpPr>
        <dsp:cNvPr id="0" name=""/>
        <dsp:cNvSpPr/>
      </dsp:nvSpPr>
      <dsp:spPr>
        <a:xfrm>
          <a:off x="2274" y="963926"/>
          <a:ext cx="1323846" cy="52953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Data Collection</a:t>
          </a:r>
        </a:p>
      </dsp:txBody>
      <dsp:txXfrm>
        <a:off x="267043" y="963926"/>
        <a:ext cx="794308" cy="529538"/>
      </dsp:txXfrm>
    </dsp:sp>
    <dsp:sp modelId="{500F17FB-2AEE-844A-AED0-A20267B1418B}">
      <dsp:nvSpPr>
        <dsp:cNvPr id="0" name=""/>
        <dsp:cNvSpPr/>
      </dsp:nvSpPr>
      <dsp:spPr>
        <a:xfrm>
          <a:off x="1193736" y="963926"/>
          <a:ext cx="1323846" cy="52953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 dirty="0" err="1"/>
            <a:t>Segmentation</a:t>
          </a:r>
          <a:endParaRPr lang="tr-TR" sz="1000" kern="1200" dirty="0"/>
        </a:p>
      </dsp:txBody>
      <dsp:txXfrm>
        <a:off x="1458505" y="963926"/>
        <a:ext cx="794308" cy="529538"/>
      </dsp:txXfrm>
    </dsp:sp>
    <dsp:sp modelId="{791967BE-0BC4-0E41-9083-73D3E448FBA4}">
      <dsp:nvSpPr>
        <dsp:cNvPr id="0" name=""/>
        <dsp:cNvSpPr/>
      </dsp:nvSpPr>
      <dsp:spPr>
        <a:xfrm>
          <a:off x="2386823" y="962755"/>
          <a:ext cx="1323846" cy="52953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 err="1"/>
            <a:t>Personalized</a:t>
          </a:r>
          <a:endParaRPr lang="tr-TR" sz="1100" kern="1200" dirty="0"/>
        </a:p>
      </dsp:txBody>
      <dsp:txXfrm>
        <a:off x="2651592" y="962755"/>
        <a:ext cx="794308" cy="529538"/>
      </dsp:txXfrm>
    </dsp:sp>
    <dsp:sp modelId="{225C59F5-F686-9849-896F-EEE8D76AC55B}">
      <dsp:nvSpPr>
        <dsp:cNvPr id="0" name=""/>
        <dsp:cNvSpPr/>
      </dsp:nvSpPr>
      <dsp:spPr>
        <a:xfrm>
          <a:off x="3576660" y="963926"/>
          <a:ext cx="1323846" cy="529538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ROI</a:t>
          </a:r>
        </a:p>
      </dsp:txBody>
      <dsp:txXfrm>
        <a:off x="3841429" y="963926"/>
        <a:ext cx="794308" cy="529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51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AC9C-8E5A-6DAF-26C0-49E9162C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65554-2BFC-DA56-BCE0-2E1E43FE3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85D92-2DCB-E286-2319-C1E159B3F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CB20E-3496-9C18-F806-4C82748D81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3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97E3-9DAD-09B3-040B-995E5F1CE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837A8-876D-6E09-B9E6-4C96A4BEA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B8289-C436-8362-A6AD-E6B69A218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CAE7D-71AF-3BA7-FE67-4FCB8A7DB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7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36B5-84A2-26FD-E003-60E302D9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1B90B-E70F-618C-2C9A-46C8FF670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AD687-C209-623B-17E7-B3F88B55C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EE607-4C48-AB4E-38CE-3A8C2B307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1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BADA-06D4-094B-9656-9BD92200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FC0EA-BED2-B975-3973-DE2038C16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2BDE0-7A68-A956-8614-6DCC36B55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E4BA4-25DB-1B41-4683-39709E7A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84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50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18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0.png"/><Relationship Id="rId10" Type="http://schemas.openxmlformats.org/officeDocument/2006/relationships/image" Target="../media/image77.png"/><Relationship Id="rId4" Type="http://schemas.openxmlformats.org/officeDocument/2006/relationships/image" Target="../media/image18.png"/><Relationship Id="rId9" Type="http://schemas.openxmlformats.org/officeDocument/2006/relationships/image" Target="../media/image76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96.png"/><Relationship Id="rId7" Type="http://schemas.openxmlformats.org/officeDocument/2006/relationships/image" Target="../media/image84.png"/><Relationship Id="rId12" Type="http://schemas.openxmlformats.org/officeDocument/2006/relationships/image" Target="../media/image24.png"/><Relationship Id="rId17" Type="http://schemas.openxmlformats.org/officeDocument/2006/relationships/image" Target="../media/image93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2.png"/><Relationship Id="rId20" Type="http://schemas.openxmlformats.org/officeDocument/2006/relationships/image" Target="../media/image95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99.png"/><Relationship Id="rId5" Type="http://schemas.openxmlformats.org/officeDocument/2006/relationships/image" Target="../media/image82.png"/><Relationship Id="rId15" Type="http://schemas.openxmlformats.org/officeDocument/2006/relationships/image" Target="../media/image91.png"/><Relationship Id="rId23" Type="http://schemas.openxmlformats.org/officeDocument/2006/relationships/image" Target="../media/image98.png"/><Relationship Id="rId28" Type="http://schemas.openxmlformats.org/officeDocument/2006/relationships/image" Target="../media/image103.png"/><Relationship Id="rId10" Type="http://schemas.openxmlformats.org/officeDocument/2006/relationships/image" Target="../media/image87.png"/><Relationship Id="rId19" Type="http://schemas.openxmlformats.org/officeDocument/2006/relationships/image" Target="../media/image78.png"/><Relationship Id="rId31" Type="http://schemas.microsoft.com/office/2007/relationships/hdphoto" Target="../media/hdphoto1.wdp"/><Relationship Id="rId4" Type="http://schemas.openxmlformats.org/officeDocument/2006/relationships/image" Target="../media/image18.png"/><Relationship Id="rId9" Type="http://schemas.openxmlformats.org/officeDocument/2006/relationships/image" Target="../media/image86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Relationship Id="rId30" Type="http://schemas.openxmlformats.org/officeDocument/2006/relationships/image" Target="../media/image10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5.png"/><Relationship Id="rId18" Type="http://schemas.openxmlformats.org/officeDocument/2006/relationships/image" Target="../media/image30.png"/><Relationship Id="rId26" Type="http://schemas.openxmlformats.org/officeDocument/2006/relationships/image" Target="../media/image127.png"/><Relationship Id="rId3" Type="http://schemas.openxmlformats.org/officeDocument/2006/relationships/image" Target="../media/image1.png"/><Relationship Id="rId21" Type="http://schemas.openxmlformats.org/officeDocument/2006/relationships/image" Target="../media/image122.png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8.png"/><Relationship Id="rId20" Type="http://schemas.openxmlformats.org/officeDocument/2006/relationships/image" Target="../media/image121.pn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24" Type="http://schemas.openxmlformats.org/officeDocument/2006/relationships/image" Target="../media/image125.png"/><Relationship Id="rId5" Type="http://schemas.openxmlformats.org/officeDocument/2006/relationships/image" Target="../media/image108.png"/><Relationship Id="rId15" Type="http://schemas.openxmlformats.org/officeDocument/2006/relationships/image" Target="../media/image117.png"/><Relationship Id="rId23" Type="http://schemas.openxmlformats.org/officeDocument/2006/relationships/image" Target="../media/image124.png"/><Relationship Id="rId28" Type="http://schemas.openxmlformats.org/officeDocument/2006/relationships/image" Target="../media/image128.png"/><Relationship Id="rId10" Type="http://schemas.openxmlformats.org/officeDocument/2006/relationships/image" Target="../media/image112.png"/><Relationship Id="rId19" Type="http://schemas.openxmlformats.org/officeDocument/2006/relationships/image" Target="../media/image120.png"/><Relationship Id="rId4" Type="http://schemas.openxmlformats.org/officeDocument/2006/relationships/image" Target="../media/image18.png"/><Relationship Id="rId9" Type="http://schemas.openxmlformats.org/officeDocument/2006/relationships/image" Target="../media/image59.png"/><Relationship Id="rId14" Type="http://schemas.openxmlformats.org/officeDocument/2006/relationships/image" Target="../media/image116.png"/><Relationship Id="rId22" Type="http://schemas.openxmlformats.org/officeDocument/2006/relationships/image" Target="../media/image123.png"/><Relationship Id="rId27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50.png"/><Relationship Id="rId3" Type="http://schemas.openxmlformats.org/officeDocument/2006/relationships/image" Target="../media/image130.png"/><Relationship Id="rId21" Type="http://schemas.openxmlformats.org/officeDocument/2006/relationships/image" Target="../media/image145.png"/><Relationship Id="rId7" Type="http://schemas.openxmlformats.org/officeDocument/2006/relationships/image" Target="../media/image132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29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5" Type="http://schemas.openxmlformats.org/officeDocument/2006/relationships/image" Target="../media/image131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2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31" Type="http://schemas.openxmlformats.org/officeDocument/2006/relationships/image" Target="../media/image155.png"/><Relationship Id="rId4" Type="http://schemas.openxmlformats.org/officeDocument/2006/relationships/image" Target="../media/image1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1.png"/><Relationship Id="rId30" Type="http://schemas.openxmlformats.org/officeDocument/2006/relationships/image" Target="../media/image1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162.png"/><Relationship Id="rId18" Type="http://schemas.openxmlformats.org/officeDocument/2006/relationships/image" Target="../media/image167.png"/><Relationship Id="rId3" Type="http://schemas.openxmlformats.org/officeDocument/2006/relationships/image" Target="../media/image1.png"/><Relationship Id="rId21" Type="http://schemas.openxmlformats.org/officeDocument/2006/relationships/image" Target="../media/image169.png"/><Relationship Id="rId7" Type="http://schemas.openxmlformats.org/officeDocument/2006/relationships/image" Target="../media/image157.png"/><Relationship Id="rId12" Type="http://schemas.openxmlformats.org/officeDocument/2006/relationships/image" Target="../media/image161.png"/><Relationship Id="rId17" Type="http://schemas.openxmlformats.org/officeDocument/2006/relationships/image" Target="../media/image16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5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160.png"/><Relationship Id="rId5" Type="http://schemas.openxmlformats.org/officeDocument/2006/relationships/image" Target="../media/image156.png"/><Relationship Id="rId15" Type="http://schemas.openxmlformats.org/officeDocument/2006/relationships/image" Target="../media/image164.png"/><Relationship Id="rId10" Type="http://schemas.openxmlformats.org/officeDocument/2006/relationships/image" Target="../media/image159.png"/><Relationship Id="rId19" Type="http://schemas.openxmlformats.org/officeDocument/2006/relationships/image" Target="../media/image168.png"/><Relationship Id="rId4" Type="http://schemas.openxmlformats.org/officeDocument/2006/relationships/image" Target="../media/image18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6.png"/><Relationship Id="rId18" Type="http://schemas.openxmlformats.org/officeDocument/2006/relationships/image" Target="../media/image180.png"/><Relationship Id="rId3" Type="http://schemas.openxmlformats.org/officeDocument/2006/relationships/image" Target="../media/image1.png"/><Relationship Id="rId7" Type="http://schemas.openxmlformats.org/officeDocument/2006/relationships/image" Target="../media/image172.png"/><Relationship Id="rId12" Type="http://schemas.openxmlformats.org/officeDocument/2006/relationships/image" Target="../media/image175.png"/><Relationship Id="rId17" Type="http://schemas.openxmlformats.org/officeDocument/2006/relationships/image" Target="../media/image17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34.png"/><Relationship Id="rId5" Type="http://schemas.openxmlformats.org/officeDocument/2006/relationships/image" Target="../media/image170.png"/><Relationship Id="rId15" Type="http://schemas.openxmlformats.org/officeDocument/2006/relationships/image" Target="../media/image117.png"/><Relationship Id="rId10" Type="http://schemas.openxmlformats.org/officeDocument/2006/relationships/image" Target="../media/image168.png"/><Relationship Id="rId19" Type="http://schemas.openxmlformats.org/officeDocument/2006/relationships/image" Target="../media/image181.png"/><Relationship Id="rId4" Type="http://schemas.openxmlformats.org/officeDocument/2006/relationships/image" Target="../media/image18.png"/><Relationship Id="rId9" Type="http://schemas.openxmlformats.org/officeDocument/2006/relationships/image" Target="../media/image174.png"/><Relationship Id="rId14" Type="http://schemas.openxmlformats.org/officeDocument/2006/relationships/image" Target="../media/image1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89.png"/><Relationship Id="rId18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95.png"/><Relationship Id="rId7" Type="http://schemas.openxmlformats.org/officeDocument/2006/relationships/image" Target="../media/image184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2.png"/><Relationship Id="rId20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24.png"/><Relationship Id="rId5" Type="http://schemas.openxmlformats.org/officeDocument/2006/relationships/image" Target="../media/image182.png"/><Relationship Id="rId15" Type="http://schemas.openxmlformats.org/officeDocument/2006/relationships/image" Target="../media/image191.png"/><Relationship Id="rId10" Type="http://schemas.openxmlformats.org/officeDocument/2006/relationships/image" Target="../media/image187.png"/><Relationship Id="rId19" Type="http://schemas.openxmlformats.org/officeDocument/2006/relationships/image" Target="../media/image121.png"/><Relationship Id="rId4" Type="http://schemas.openxmlformats.org/officeDocument/2006/relationships/image" Target="../media/image18.png"/><Relationship Id="rId9" Type="http://schemas.openxmlformats.org/officeDocument/2006/relationships/image" Target="../media/image186.png"/><Relationship Id="rId14" Type="http://schemas.openxmlformats.org/officeDocument/2006/relationships/image" Target="../media/image190.png"/><Relationship Id="rId22" Type="http://schemas.openxmlformats.org/officeDocument/2006/relationships/image" Target="../media/image19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3" Type="http://schemas.openxmlformats.org/officeDocument/2006/relationships/image" Target="../media/image50.png"/><Relationship Id="rId21" Type="http://schemas.openxmlformats.org/officeDocument/2006/relationships/image" Target="../media/image71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17" Type="http://schemas.openxmlformats.org/officeDocument/2006/relationships/image" Target="../media/image20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07.png"/><Relationship Id="rId20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202.png"/><Relationship Id="rId24" Type="http://schemas.openxmlformats.org/officeDocument/2006/relationships/image" Target="../media/image213.png"/><Relationship Id="rId5" Type="http://schemas.openxmlformats.org/officeDocument/2006/relationships/image" Target="../media/image197.png"/><Relationship Id="rId15" Type="http://schemas.openxmlformats.org/officeDocument/2006/relationships/image" Target="../media/image206.png"/><Relationship Id="rId23" Type="http://schemas.openxmlformats.org/officeDocument/2006/relationships/image" Target="../media/image212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4" Type="http://schemas.openxmlformats.org/officeDocument/2006/relationships/image" Target="../media/image18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Relationship Id="rId22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2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4.png"/><Relationship Id="rId5" Type="http://schemas.openxmlformats.org/officeDocument/2006/relationships/image" Target="../media/image197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18" Type="http://schemas.openxmlformats.org/officeDocument/2006/relationships/image" Target="../media/image232.png"/><Relationship Id="rId3" Type="http://schemas.openxmlformats.org/officeDocument/2006/relationships/image" Target="../media/image1.png"/><Relationship Id="rId21" Type="http://schemas.openxmlformats.org/officeDocument/2006/relationships/image" Target="../media/image235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17" Type="http://schemas.openxmlformats.org/officeDocument/2006/relationships/image" Target="../media/image23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30.png"/><Relationship Id="rId20" Type="http://schemas.openxmlformats.org/officeDocument/2006/relationships/image" Target="../media/image2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219.png"/><Relationship Id="rId15" Type="http://schemas.openxmlformats.org/officeDocument/2006/relationships/image" Target="../media/image229.png"/><Relationship Id="rId10" Type="http://schemas.openxmlformats.org/officeDocument/2006/relationships/image" Target="../media/image224.png"/><Relationship Id="rId19" Type="http://schemas.openxmlformats.org/officeDocument/2006/relationships/image" Target="../media/image233.png"/><Relationship Id="rId4" Type="http://schemas.openxmlformats.org/officeDocument/2006/relationships/image" Target="../media/image18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Relationship Id="rId22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5" Type="http://schemas.openxmlformats.org/officeDocument/2006/relationships/image" Target="../media/image236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5.png"/><Relationship Id="rId18" Type="http://schemas.openxmlformats.org/officeDocument/2006/relationships/image" Target="../media/image250.png"/><Relationship Id="rId26" Type="http://schemas.openxmlformats.org/officeDocument/2006/relationships/image" Target="../media/image257.png"/><Relationship Id="rId39" Type="http://schemas.openxmlformats.org/officeDocument/2006/relationships/image" Target="../media/image71.png"/><Relationship Id="rId21" Type="http://schemas.openxmlformats.org/officeDocument/2006/relationships/image" Target="../media/image252.png"/><Relationship Id="rId34" Type="http://schemas.openxmlformats.org/officeDocument/2006/relationships/image" Target="../media/image265.png"/><Relationship Id="rId7" Type="http://schemas.openxmlformats.org/officeDocument/2006/relationships/image" Target="../media/image239.png"/><Relationship Id="rId12" Type="http://schemas.openxmlformats.org/officeDocument/2006/relationships/image" Target="../media/image244.png"/><Relationship Id="rId17" Type="http://schemas.openxmlformats.org/officeDocument/2006/relationships/image" Target="../media/image249.png"/><Relationship Id="rId25" Type="http://schemas.openxmlformats.org/officeDocument/2006/relationships/image" Target="../media/image256.png"/><Relationship Id="rId33" Type="http://schemas.openxmlformats.org/officeDocument/2006/relationships/image" Target="../media/image264.png"/><Relationship Id="rId38" Type="http://schemas.openxmlformats.org/officeDocument/2006/relationships/image" Target="../media/image26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48.png"/><Relationship Id="rId20" Type="http://schemas.openxmlformats.org/officeDocument/2006/relationships/image" Target="../media/image85.png"/><Relationship Id="rId29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8.png"/><Relationship Id="rId11" Type="http://schemas.openxmlformats.org/officeDocument/2006/relationships/image" Target="../media/image243.png"/><Relationship Id="rId24" Type="http://schemas.openxmlformats.org/officeDocument/2006/relationships/image" Target="../media/image255.png"/><Relationship Id="rId32" Type="http://schemas.openxmlformats.org/officeDocument/2006/relationships/image" Target="../media/image263.png"/><Relationship Id="rId37" Type="http://schemas.openxmlformats.org/officeDocument/2006/relationships/image" Target="../media/image42.png"/><Relationship Id="rId5" Type="http://schemas.openxmlformats.org/officeDocument/2006/relationships/image" Target="../media/image237.png"/><Relationship Id="rId15" Type="http://schemas.openxmlformats.org/officeDocument/2006/relationships/image" Target="../media/image247.png"/><Relationship Id="rId23" Type="http://schemas.openxmlformats.org/officeDocument/2006/relationships/image" Target="../media/image254.png"/><Relationship Id="rId28" Type="http://schemas.openxmlformats.org/officeDocument/2006/relationships/image" Target="../media/image259.png"/><Relationship Id="rId36" Type="http://schemas.openxmlformats.org/officeDocument/2006/relationships/image" Target="../media/image267.png"/><Relationship Id="rId10" Type="http://schemas.openxmlformats.org/officeDocument/2006/relationships/image" Target="../media/image242.png"/><Relationship Id="rId19" Type="http://schemas.openxmlformats.org/officeDocument/2006/relationships/image" Target="../media/image251.png"/><Relationship Id="rId31" Type="http://schemas.openxmlformats.org/officeDocument/2006/relationships/image" Target="../media/image262.png"/><Relationship Id="rId4" Type="http://schemas.openxmlformats.org/officeDocument/2006/relationships/image" Target="../media/image18.png"/><Relationship Id="rId9" Type="http://schemas.openxmlformats.org/officeDocument/2006/relationships/image" Target="../media/image241.png"/><Relationship Id="rId14" Type="http://schemas.openxmlformats.org/officeDocument/2006/relationships/image" Target="../media/image246.png"/><Relationship Id="rId22" Type="http://schemas.openxmlformats.org/officeDocument/2006/relationships/image" Target="../media/image253.png"/><Relationship Id="rId27" Type="http://schemas.openxmlformats.org/officeDocument/2006/relationships/image" Target="../media/image258.png"/><Relationship Id="rId30" Type="http://schemas.openxmlformats.org/officeDocument/2006/relationships/image" Target="../media/image261.png"/><Relationship Id="rId35" Type="http://schemas.openxmlformats.org/officeDocument/2006/relationships/image" Target="../media/image266.png"/><Relationship Id="rId8" Type="http://schemas.openxmlformats.org/officeDocument/2006/relationships/image" Target="../media/image240.png"/><Relationship Id="rId3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13" Type="http://schemas.openxmlformats.org/officeDocument/2006/relationships/image" Target="../media/image276.png"/><Relationship Id="rId18" Type="http://schemas.openxmlformats.org/officeDocument/2006/relationships/image" Target="../media/image71.png"/><Relationship Id="rId3" Type="http://schemas.openxmlformats.org/officeDocument/2006/relationships/image" Target="../media/image269.png"/><Relationship Id="rId7" Type="http://schemas.openxmlformats.org/officeDocument/2006/relationships/image" Target="../media/image48.png"/><Relationship Id="rId12" Type="http://schemas.openxmlformats.org/officeDocument/2006/relationships/image" Target="../media/image275.png"/><Relationship Id="rId17" Type="http://schemas.openxmlformats.org/officeDocument/2006/relationships/image" Target="../media/image28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11" Type="http://schemas.openxmlformats.org/officeDocument/2006/relationships/image" Target="../media/image274.png"/><Relationship Id="rId5" Type="http://schemas.openxmlformats.org/officeDocument/2006/relationships/image" Target="../media/image270.png"/><Relationship Id="rId15" Type="http://schemas.openxmlformats.org/officeDocument/2006/relationships/image" Target="../media/image278.png"/><Relationship Id="rId10" Type="http://schemas.openxmlformats.org/officeDocument/2006/relationships/image" Target="../media/image273.png"/><Relationship Id="rId4" Type="http://schemas.openxmlformats.org/officeDocument/2006/relationships/image" Target="../media/image18.png"/><Relationship Id="rId9" Type="http://schemas.openxmlformats.org/officeDocument/2006/relationships/image" Target="../media/image272.png"/><Relationship Id="rId14" Type="http://schemas.openxmlformats.org/officeDocument/2006/relationships/image" Target="../media/image27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122.png"/><Relationship Id="rId3" Type="http://schemas.openxmlformats.org/officeDocument/2006/relationships/image" Target="../media/image1.png"/><Relationship Id="rId7" Type="http://schemas.openxmlformats.org/officeDocument/2006/relationships/image" Target="../media/image239.png"/><Relationship Id="rId12" Type="http://schemas.openxmlformats.org/officeDocument/2006/relationships/image" Target="../media/image257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8.png"/><Relationship Id="rId11" Type="http://schemas.openxmlformats.org/officeDocument/2006/relationships/image" Target="../media/image283.png"/><Relationship Id="rId5" Type="http://schemas.openxmlformats.org/officeDocument/2006/relationships/image" Target="../media/image281.png"/><Relationship Id="rId15" Type="http://schemas.openxmlformats.org/officeDocument/2006/relationships/image" Target="../media/image35.png"/><Relationship Id="rId10" Type="http://schemas.openxmlformats.org/officeDocument/2006/relationships/image" Target="../media/image246.png"/><Relationship Id="rId4" Type="http://schemas.openxmlformats.org/officeDocument/2006/relationships/image" Target="../media/image18.png"/><Relationship Id="rId9" Type="http://schemas.openxmlformats.org/officeDocument/2006/relationships/image" Target="../media/image168.png"/><Relationship Id="rId14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13" Type="http://schemas.openxmlformats.org/officeDocument/2006/relationships/image" Target="../media/image290.png"/><Relationship Id="rId18" Type="http://schemas.openxmlformats.org/officeDocument/2006/relationships/image" Target="../media/image36.png"/><Relationship Id="rId26" Type="http://schemas.microsoft.com/office/2007/relationships/diagramDrawing" Target="../diagrams/drawing1.xml"/><Relationship Id="rId3" Type="http://schemas.openxmlformats.org/officeDocument/2006/relationships/image" Target="../media/image284.png"/><Relationship Id="rId21" Type="http://schemas.openxmlformats.org/officeDocument/2006/relationships/image" Target="../media/image71.png"/><Relationship Id="rId7" Type="http://schemas.openxmlformats.org/officeDocument/2006/relationships/image" Target="../media/image53.png"/><Relationship Id="rId12" Type="http://schemas.openxmlformats.org/officeDocument/2006/relationships/image" Target="../media/image289.png"/><Relationship Id="rId17" Type="http://schemas.openxmlformats.org/officeDocument/2006/relationships/image" Target="../media/image128.png"/><Relationship Id="rId25" Type="http://schemas.openxmlformats.org/officeDocument/2006/relationships/diagramColors" Target="../diagrams/colors1.xm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92.png"/><Relationship Id="rId20" Type="http://schemas.openxmlformats.org/officeDocument/2006/relationships/image" Target="../media/image2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5.png"/><Relationship Id="rId11" Type="http://schemas.openxmlformats.org/officeDocument/2006/relationships/image" Target="../media/image288.png"/><Relationship Id="rId24" Type="http://schemas.openxmlformats.org/officeDocument/2006/relationships/diagramQuickStyle" Target="../diagrams/quickStyle1.xml"/><Relationship Id="rId5" Type="http://schemas.openxmlformats.org/officeDocument/2006/relationships/image" Target="../media/image197.png"/><Relationship Id="rId15" Type="http://schemas.openxmlformats.org/officeDocument/2006/relationships/image" Target="../media/image51.png"/><Relationship Id="rId23" Type="http://schemas.openxmlformats.org/officeDocument/2006/relationships/diagramLayout" Target="../diagrams/layout1.xml"/><Relationship Id="rId10" Type="http://schemas.openxmlformats.org/officeDocument/2006/relationships/image" Target="../media/image272.png"/><Relationship Id="rId19" Type="http://schemas.openxmlformats.org/officeDocument/2006/relationships/image" Target="../media/image37.png"/><Relationship Id="rId4" Type="http://schemas.openxmlformats.org/officeDocument/2006/relationships/image" Target="../media/image18.png"/><Relationship Id="rId9" Type="http://schemas.openxmlformats.org/officeDocument/2006/relationships/image" Target="../media/image287.png"/><Relationship Id="rId14" Type="http://schemas.openxmlformats.org/officeDocument/2006/relationships/image" Target="../media/image291.png"/><Relationship Id="rId22" Type="http://schemas.openxmlformats.org/officeDocument/2006/relationships/diagramData" Target="../diagrams/data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18" Type="http://schemas.openxmlformats.org/officeDocument/2006/relationships/image" Target="../media/image305.png"/><Relationship Id="rId26" Type="http://schemas.openxmlformats.org/officeDocument/2006/relationships/image" Target="../media/image310.png"/><Relationship Id="rId3" Type="http://schemas.openxmlformats.org/officeDocument/2006/relationships/image" Target="../media/image1.png"/><Relationship Id="rId21" Type="http://schemas.openxmlformats.org/officeDocument/2006/relationships/image" Target="../media/image307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17" Type="http://schemas.openxmlformats.org/officeDocument/2006/relationships/image" Target="../media/image304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03.png"/><Relationship Id="rId20" Type="http://schemas.openxmlformats.org/officeDocument/2006/relationships/image" Target="../media/image306.png"/><Relationship Id="rId29" Type="http://schemas.openxmlformats.org/officeDocument/2006/relationships/image" Target="../media/image3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24" Type="http://schemas.openxmlformats.org/officeDocument/2006/relationships/image" Target="../media/image309.png"/><Relationship Id="rId5" Type="http://schemas.openxmlformats.org/officeDocument/2006/relationships/image" Target="../media/image61.png"/><Relationship Id="rId15" Type="http://schemas.openxmlformats.org/officeDocument/2006/relationships/image" Target="../media/image302.png"/><Relationship Id="rId23" Type="http://schemas.openxmlformats.org/officeDocument/2006/relationships/image" Target="../media/image308.png"/><Relationship Id="rId28" Type="http://schemas.openxmlformats.org/officeDocument/2006/relationships/image" Target="../media/image24.png"/><Relationship Id="rId10" Type="http://schemas.openxmlformats.org/officeDocument/2006/relationships/image" Target="../media/image297.png"/><Relationship Id="rId19" Type="http://schemas.openxmlformats.org/officeDocument/2006/relationships/image" Target="../media/image195.png"/><Relationship Id="rId4" Type="http://schemas.openxmlformats.org/officeDocument/2006/relationships/image" Target="../media/image18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Relationship Id="rId22" Type="http://schemas.openxmlformats.org/officeDocument/2006/relationships/image" Target="../media/image26.png"/><Relationship Id="rId27" Type="http://schemas.openxmlformats.org/officeDocument/2006/relationships/image" Target="../media/image3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411" y="2832051"/>
            <a:ext cx="1336261" cy="13362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267" y="2984450"/>
            <a:ext cx="25717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396" y="2870149"/>
            <a:ext cx="1097459" cy="111189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155" y="29844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0791" y="3004896"/>
            <a:ext cx="1097459" cy="111189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874" y="3106671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8899" y="3073301"/>
            <a:ext cx="1334691" cy="685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5792" y="3060650"/>
            <a:ext cx="952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1349" y="2989647"/>
            <a:ext cx="927646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6154" y="3060650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8126" y="4785944"/>
            <a:ext cx="2148285" cy="45815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5896" y="4785944"/>
            <a:ext cx="1985897" cy="45815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51278" y="4783861"/>
            <a:ext cx="1550254" cy="45815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4945" y="4771766"/>
            <a:ext cx="982892" cy="45260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0244" y="4777657"/>
            <a:ext cx="1047060" cy="45260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89487" y="4769519"/>
            <a:ext cx="1408221" cy="452603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1056189"/>
            <a:ext cx="112776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44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Customer Segmentation for Strategic Marketing</a:t>
            </a:r>
            <a:endParaRPr lang="en-US" sz="4400" dirty="0"/>
          </a:p>
        </p:txBody>
      </p:sp>
      <p:sp>
        <p:nvSpPr>
          <p:cNvPr id="21" name="Text 1"/>
          <p:cNvSpPr/>
          <p:nvPr/>
        </p:nvSpPr>
        <p:spPr>
          <a:xfrm>
            <a:off x="-670560" y="2101004"/>
            <a:ext cx="13533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a typeface="ui-sans-serif" pitchFamily="34" charset="-122"/>
                <a:cs typeface="ui-sans-serif" pitchFamily="34" charset="-120"/>
              </a:rPr>
              <a:t>A CRISP-DM Approach to Optimizing Mall Customer Value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Text 2"/>
          <p:cNvSpPr/>
          <p:nvPr/>
        </p:nvSpPr>
        <p:spPr>
          <a:xfrm>
            <a:off x="2990255" y="3327350"/>
            <a:ext cx="121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VIPs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2990255" y="3517850"/>
            <a:ext cx="121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High Income, High Spend</a:t>
            </a:r>
            <a:endParaRPr lang="en-US" sz="900" dirty="0"/>
          </a:p>
        </p:txBody>
      </p:sp>
      <p:sp>
        <p:nvSpPr>
          <p:cNvPr id="24" name="Text 4"/>
          <p:cNvSpPr/>
          <p:nvPr/>
        </p:nvSpPr>
        <p:spPr>
          <a:xfrm>
            <a:off x="4331375" y="332735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Potentials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4438055" y="3517850"/>
            <a:ext cx="1066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High Income, Low Spend</a:t>
            </a:r>
            <a:endParaRPr lang="en-US" sz="900" dirty="0"/>
          </a:p>
        </p:txBody>
      </p:sp>
      <p:sp>
        <p:nvSpPr>
          <p:cNvPr id="26" name="Text 6"/>
          <p:cNvSpPr/>
          <p:nvPr/>
        </p:nvSpPr>
        <p:spPr>
          <a:xfrm>
            <a:off x="5530096" y="3434501"/>
            <a:ext cx="12258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Standard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5739687" y="3640071"/>
            <a:ext cx="80888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Mid Income, Mid Spend</a:t>
            </a:r>
            <a:endParaRPr lang="en-US" sz="900" dirty="0"/>
          </a:p>
        </p:txBody>
      </p:sp>
      <p:sp>
        <p:nvSpPr>
          <p:cNvPr id="28" name="Text 8"/>
          <p:cNvSpPr/>
          <p:nvPr/>
        </p:nvSpPr>
        <p:spPr>
          <a:xfrm>
            <a:off x="6824663" y="3308300"/>
            <a:ext cx="147027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Impulsive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6959798" y="3479750"/>
            <a:ext cx="125923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Low Income, High Spend</a:t>
            </a:r>
            <a:endParaRPr lang="en-US" sz="900" dirty="0"/>
          </a:p>
        </p:txBody>
      </p:sp>
      <p:sp>
        <p:nvSpPr>
          <p:cNvPr id="30" name="Text 10"/>
          <p:cNvSpPr/>
          <p:nvPr/>
        </p:nvSpPr>
        <p:spPr>
          <a:xfrm>
            <a:off x="8492073" y="3308300"/>
            <a:ext cx="7436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Savers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8517731" y="3498800"/>
            <a:ext cx="7340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Low Income, Low Spend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972955" y="4958429"/>
            <a:ext cx="19334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33" name="Text 13"/>
          <p:cNvSpPr/>
          <p:nvPr/>
        </p:nvSpPr>
        <p:spPr>
          <a:xfrm>
            <a:off x="2939588" y="4915982"/>
            <a:ext cx="187796" cy="2902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14"/>
          <p:cNvSpPr/>
          <p:nvPr/>
        </p:nvSpPr>
        <p:spPr>
          <a:xfrm>
            <a:off x="3411281" y="4958429"/>
            <a:ext cx="165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35" name="Text 15"/>
          <p:cNvSpPr/>
          <p:nvPr/>
        </p:nvSpPr>
        <p:spPr>
          <a:xfrm>
            <a:off x="5150382" y="4915982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16"/>
          <p:cNvSpPr/>
          <p:nvPr/>
        </p:nvSpPr>
        <p:spPr>
          <a:xfrm>
            <a:off x="5503939" y="4967147"/>
            <a:ext cx="14378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37" name="Text 17"/>
          <p:cNvSpPr/>
          <p:nvPr/>
        </p:nvSpPr>
        <p:spPr>
          <a:xfrm>
            <a:off x="6938846" y="4898636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18"/>
          <p:cNvSpPr/>
          <p:nvPr/>
        </p:nvSpPr>
        <p:spPr>
          <a:xfrm>
            <a:off x="7275514" y="4941582"/>
            <a:ext cx="8983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Modeling</a:t>
            </a:r>
            <a:endParaRPr lang="en-US" sz="1400" dirty="0"/>
          </a:p>
        </p:txBody>
      </p:sp>
      <p:sp>
        <p:nvSpPr>
          <p:cNvPr id="39" name="Text 19"/>
          <p:cNvSpPr/>
          <p:nvPr/>
        </p:nvSpPr>
        <p:spPr>
          <a:xfrm>
            <a:off x="8168727" y="4902543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20"/>
          <p:cNvSpPr/>
          <p:nvPr/>
        </p:nvSpPr>
        <p:spPr>
          <a:xfrm>
            <a:off x="8528363" y="4944587"/>
            <a:ext cx="99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41" name="Text 21"/>
          <p:cNvSpPr/>
          <p:nvPr/>
        </p:nvSpPr>
        <p:spPr>
          <a:xfrm>
            <a:off x="9481779" y="4887514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22"/>
          <p:cNvSpPr/>
          <p:nvPr/>
        </p:nvSpPr>
        <p:spPr>
          <a:xfrm>
            <a:off x="9897195" y="4935940"/>
            <a:ext cx="11133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43" name="Text 23"/>
          <p:cNvSpPr/>
          <p:nvPr/>
        </p:nvSpPr>
        <p:spPr>
          <a:xfrm>
            <a:off x="-670560" y="6172051"/>
            <a:ext cx="13533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Presented by: Emre Şentürk - Göktuğ Deniz Sert - Mehmet Safa Akın - Şevval Öner - Yağmur Ağaçbacak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858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14500"/>
            <a:ext cx="5334000" cy="3276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943100"/>
            <a:ext cx="3048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0478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0099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114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84810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952875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285875"/>
            <a:ext cx="1714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714500"/>
            <a:ext cx="5334000" cy="2819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1943100"/>
            <a:ext cx="28575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2047875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2781300"/>
            <a:ext cx="32385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05600" y="2886075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361950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05600" y="37242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5867400"/>
            <a:ext cx="1127760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60798" y="6048375"/>
            <a:ext cx="142875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88178" y="6048375"/>
            <a:ext cx="142875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Project Introduction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762000" y="12573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The Challenge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143000" y="1943100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Mass Marketing Approach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1143000" y="2171700"/>
            <a:ext cx="4419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The mall's marketing department currently uses a "mass marketing" strategy, sending the same offers to everyone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143000" y="3009900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Inefficient Conversion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1143000" y="32385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This lack of personalization leads to lower conversion rates and fails to reward loyal high-spenders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1181100" y="38481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Missed Opportunities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181100" y="4076700"/>
            <a:ext cx="43815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The mall treats every customer the same, missing opportunities with high-value clients and wasted resources on low-potential ones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6648450" y="12573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Our Approach</a:t>
            </a:r>
            <a:endParaRPr lang="en-US" sz="1800" dirty="0"/>
          </a:p>
        </p:txBody>
      </p:sp>
      <p:sp>
        <p:nvSpPr>
          <p:cNvPr id="33" name="Text 9"/>
          <p:cNvSpPr/>
          <p:nvPr/>
        </p:nvSpPr>
        <p:spPr>
          <a:xfrm>
            <a:off x="7067550" y="1943100"/>
            <a:ext cx="4438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Data-Driven Segmentation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7067550" y="2171700"/>
            <a:ext cx="4438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Apply unsupervised learning to transform raw data into actionable customer segments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7105650" y="2781300"/>
            <a:ext cx="4400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Behavioral Analysis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7105650" y="3009900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Focus on spending behavior rather than just demographics to create meaningful segments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7086600" y="3619500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Targeted Strategies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7086600" y="38481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Develop specific marketing approaches for each customer segment to optimize ROI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-487680" y="60198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Our goal is to help the mall transform from intuition-based marketing to data-driven targeted strategies 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11277600" cy="990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76500"/>
            <a:ext cx="3606850" cy="266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24150"/>
            <a:ext cx="4191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8384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429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9624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4958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2650" y="2476500"/>
            <a:ext cx="3606850" cy="2667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250" y="2724150"/>
            <a:ext cx="4191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5550" y="28384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450" y="34290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450" y="39624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450" y="4495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99" y="2476500"/>
            <a:ext cx="3606850" cy="2667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699" y="2724150"/>
            <a:ext cx="447675" cy="495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0999" y="2838450"/>
            <a:ext cx="2190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2899" y="34290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2899" y="39624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2899" y="44958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867400"/>
            <a:ext cx="112776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5921" y="6048375"/>
            <a:ext cx="1524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Understanding - The Challenge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85800" y="1485900"/>
            <a:ext cx="10820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The mall faces a critical challenge in their current marketing approach that impacts both customer satisfaction and business growth.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257300" y="2705100"/>
            <a:ext cx="2578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Mass Marketing Strategy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990600" y="33909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Identical offers sent to all customers regardless of behavior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990600" y="39243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One-size-fits-all promotional campaigns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990600" y="44577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Wastes resources on disinterested customers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5092750" y="2705100"/>
            <a:ext cx="2578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Lower Conversion Rates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4826050" y="33909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Generic offers fail to resonate with specific customer segments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4826050" y="39243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Customers ignore repeated irrelevant promotions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4826050" y="44577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Missed opportunities for cross-selling and upselling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8956774" y="2705100"/>
            <a:ext cx="25495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Unrewarding High-Spenders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8661499" y="33909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Loyal high-spenders not recognized or rewarded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661499" y="39243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Missing opportunities to increase customer lifetime value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8661499" y="44577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Potential for customer churn due to lack of appreciation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-487680" y="60198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This challenge results in decreased revenue, increased marketing costs, and missed growth opportunities.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621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81200"/>
            <a:ext cx="5410200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171700"/>
            <a:ext cx="447675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286000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467100"/>
            <a:ext cx="5410200" cy="1104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657600"/>
            <a:ext cx="40005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771900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724400"/>
            <a:ext cx="54102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4914900"/>
            <a:ext cx="4191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0292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5621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981200"/>
            <a:ext cx="5410200" cy="1104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2171700"/>
            <a:ext cx="40005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228600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238500"/>
            <a:ext cx="5410200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3429000"/>
            <a:ext cx="447675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354330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495800"/>
            <a:ext cx="54102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4686300"/>
            <a:ext cx="419100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9400" y="480060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6057900"/>
            <a:ext cx="11277600" cy="762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1063" y="6238875"/>
            <a:ext cx="11430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Understanding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457200" y="87630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Objectives &amp; Success Criteria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800100" y="15240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1247775" y="2171700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Identify Customer Groups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1247775" y="2438400"/>
            <a:ext cx="44291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Identify distinct customer groups based on behavioral patterns (Spending &amp; Income) rather than just demographics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1200150" y="36576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Enable Personalization</a:t>
            </a:r>
            <a:endParaRPr lang="en-US" sz="1350" dirty="0"/>
          </a:p>
        </p:txBody>
      </p:sp>
      <p:sp>
        <p:nvSpPr>
          <p:cNvPr id="33" name="Text 6"/>
          <p:cNvSpPr/>
          <p:nvPr/>
        </p:nvSpPr>
        <p:spPr>
          <a:xfrm>
            <a:off x="1200150" y="3924300"/>
            <a:ext cx="4476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Develop targeted marketing strategies tailored to each customer segment's unique characteristics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1219200" y="49149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Maximize ROI (Return on Investment)</a:t>
            </a:r>
            <a:endParaRPr lang="en-US" sz="1350" dirty="0"/>
          </a:p>
        </p:txBody>
      </p:sp>
      <p:sp>
        <p:nvSpPr>
          <p:cNvPr id="35" name="Text 8"/>
          <p:cNvSpPr/>
          <p:nvPr/>
        </p:nvSpPr>
        <p:spPr>
          <a:xfrm>
            <a:off x="1219200" y="51816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Optimize the ROI of marketing budget by targeting the right message to the right person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6667500" y="15240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37" name="Text 10"/>
          <p:cNvSpPr/>
          <p:nvPr/>
        </p:nvSpPr>
        <p:spPr>
          <a:xfrm>
            <a:off x="7067550" y="2171700"/>
            <a:ext cx="4476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Distinct Clusters</a:t>
            </a:r>
            <a:endParaRPr lang="en-US" sz="1350" dirty="0"/>
          </a:p>
        </p:txBody>
      </p:sp>
      <p:sp>
        <p:nvSpPr>
          <p:cNvPr id="38" name="Text 11"/>
          <p:cNvSpPr/>
          <p:nvPr/>
        </p:nvSpPr>
        <p:spPr>
          <a:xfrm>
            <a:off x="7067550" y="2438400"/>
            <a:ext cx="4476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Produce distinct clusters that allow the marketing team to design specific strategies for each segment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7115175" y="3429000"/>
            <a:ext cx="4429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Actionable Personas</a:t>
            </a:r>
            <a:endParaRPr lang="en-US" sz="1350" dirty="0"/>
          </a:p>
        </p:txBody>
      </p:sp>
      <p:sp>
        <p:nvSpPr>
          <p:cNvPr id="40" name="Text 13"/>
          <p:cNvSpPr/>
          <p:nvPr/>
        </p:nvSpPr>
        <p:spPr>
          <a:xfrm>
            <a:off x="7115175" y="3695700"/>
            <a:ext cx="44291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Create clear customer personas that marketing can easily understand and act upon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7086600" y="46863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Measurable Impact</a:t>
            </a:r>
            <a:endParaRPr lang="en-US" sz="1350" dirty="0"/>
          </a:p>
        </p:txBody>
      </p:sp>
      <p:sp>
        <p:nvSpPr>
          <p:cNvPr id="42" name="Text 15"/>
          <p:cNvSpPr/>
          <p:nvPr/>
        </p:nvSpPr>
        <p:spPr>
          <a:xfrm>
            <a:off x="7086600" y="49530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Demonstrate reduction in churn and increase in revenue through personalization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609600" y="62103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By achieving these objectives and meeting the success criteria, the mall will transform from intuition-based marketing to data-driven targeted strategies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28700"/>
            <a:ext cx="11430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162050"/>
            <a:ext cx="40005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27635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981200"/>
            <a:ext cx="21907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286000"/>
            <a:ext cx="5619750" cy="1524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438400"/>
            <a:ext cx="3238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5431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9337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2004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4671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2286000"/>
            <a:ext cx="5619750" cy="1524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3650" y="2438400"/>
            <a:ext cx="3048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254317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29337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3200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34671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962400"/>
            <a:ext cx="1143000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4105275"/>
            <a:ext cx="133350" cy="1714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Understanding - Dataset Overview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047750" y="1143000"/>
            <a:ext cx="69813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Mall Customers Dataset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047750" y="1447800"/>
            <a:ext cx="83776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Comprehensive dataset containing customer demographics and shopping behavior metrics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676275" y="1943100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Key Behavioral Indicators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971550" y="2495550"/>
            <a:ext cx="2510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Annual Income (k$)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838200" y="2895600"/>
            <a:ext cx="42483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Direct measure of customer purchasing power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38200" y="3162300"/>
            <a:ext cx="38258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Key determinant of consumption capacity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838200" y="3429000"/>
            <a:ext cx="32813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Primary indicator of customer value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6762750" y="2495550"/>
            <a:ext cx="30387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Spending Score (1-100)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6648450" y="2895600"/>
            <a:ext cx="38692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Proprietary metric based on past behavior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648450" y="3162300"/>
            <a:ext cx="31291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1 = Low spend, 100 = High spend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648450" y="3429000"/>
            <a:ext cx="31682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Measures loyalty and engagement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704850" y="4076700"/>
            <a:ext cx="1120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Why These Features Matter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495300" y="4381500"/>
            <a:ext cx="11201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Our analysis shows that buying behavior is best captured by intersecting Income against Spending Score. This combination provides a view of both ability and willingness to spend, forming the foundation for effective customer segmentation.</a:t>
            </a:r>
            <a:endParaRPr lang="en-US" sz="1200" dirty="0"/>
          </a:p>
        </p:txBody>
      </p:sp>
      <p:pic>
        <p:nvPicPr>
          <p:cNvPr id="39" name="Image 7" descr="preencoded.png">
            <a:extLst>
              <a:ext uri="{FF2B5EF4-FFF2-40B4-BE49-F238E27FC236}">
                <a16:creationId xmlns:a16="http://schemas.microsoft.com/office/drawing/2014/main" id="{88689D42-90E5-7765-6409-8C0694FCF5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5064815"/>
            <a:ext cx="5962650" cy="1267286"/>
          </a:xfrm>
          <a:prstGeom prst="rect">
            <a:avLst/>
          </a:prstGeom>
        </p:spPr>
      </p:pic>
      <p:sp>
        <p:nvSpPr>
          <p:cNvPr id="38" name="Metin kutusu 37">
            <a:extLst>
              <a:ext uri="{FF2B5EF4-FFF2-40B4-BE49-F238E27FC236}">
                <a16:creationId xmlns:a16="http://schemas.microsoft.com/office/drawing/2014/main" id="{477627BA-158A-0D0F-F314-DD21EB5278F6}"/>
              </a:ext>
            </a:extLst>
          </p:cNvPr>
          <p:cNvSpPr txBox="1"/>
          <p:nvPr/>
        </p:nvSpPr>
        <p:spPr>
          <a:xfrm>
            <a:off x="381000" y="5057775"/>
            <a:ext cx="59626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tr-TR" sz="1400" b="0" i="0" dirty="0">
                <a:effectLst/>
                <a:latin typeface="Menlo" panose="020B0609030804020204" pitchFamily="49" charset="0"/>
              </a:rPr>
              <a:t>                         </a:t>
            </a:r>
            <a:r>
              <a:rPr lang="tr-TR" sz="1400" b="0" i="0" dirty="0" err="1">
                <a:effectLst/>
                <a:latin typeface="Menlo" panose="020B0609030804020204" pitchFamily="49" charset="0"/>
              </a:rPr>
              <a:t>mean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  </a:t>
            </a:r>
            <a:r>
              <a:rPr lang="tr-TR" sz="1400" b="0" i="0" dirty="0" err="1">
                <a:effectLst/>
                <a:latin typeface="Menlo" panose="020B0609030804020204" pitchFamily="49" charset="0"/>
              </a:rPr>
              <a:t>min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   </a:t>
            </a:r>
            <a:r>
              <a:rPr lang="tr-TR" sz="1400" b="0" i="0" dirty="0" err="1">
                <a:effectLst/>
                <a:latin typeface="Menlo" panose="020B0609030804020204" pitchFamily="49" charset="0"/>
              </a:rPr>
              <a:t>max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     </a:t>
            </a:r>
            <a:r>
              <a:rPr lang="tr-TR" sz="1400" b="0" i="0" dirty="0" err="1">
                <a:effectLst/>
                <a:latin typeface="Menlo" panose="020B0609030804020204" pitchFamily="49" charset="0"/>
              </a:rPr>
              <a:t>std</a:t>
            </a:r>
            <a:endParaRPr lang="tr-TR" sz="1400" b="0" i="0" dirty="0">
              <a:effectLst/>
              <a:latin typeface="Menlo" panose="020B0609030804020204" pitchFamily="49" charset="0"/>
            </a:endParaRPr>
          </a:p>
          <a:p>
            <a:pPr algn="l" latinLnBrk="1">
              <a:buNone/>
            </a:pPr>
            <a:r>
              <a:rPr lang="tr-TR" sz="1400" b="0" i="0" dirty="0" err="1">
                <a:effectLst/>
                <a:latin typeface="Menlo" panose="020B0609030804020204" pitchFamily="49" charset="0"/>
              </a:rPr>
              <a:t>CustomerID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             100.50   1.0  200.0  57.879185</a:t>
            </a:r>
          </a:p>
          <a:p>
            <a:pPr algn="l" latinLnBrk="1">
              <a:buNone/>
            </a:pPr>
            <a:r>
              <a:rPr lang="tr-TR" sz="1400" b="0" i="0" dirty="0">
                <a:effectLst/>
                <a:latin typeface="Menlo" panose="020B0609030804020204" pitchFamily="49" charset="0"/>
              </a:rPr>
              <a:t>Age                      38.85  18.0   70.0  13.969007</a:t>
            </a:r>
          </a:p>
          <a:p>
            <a:pPr algn="l" latinLnBrk="1">
              <a:buNone/>
            </a:pPr>
            <a:r>
              <a:rPr lang="tr-TR" sz="1400" b="0" i="0" dirty="0" err="1">
                <a:effectLst/>
                <a:latin typeface="Menlo" panose="020B0609030804020204" pitchFamily="49" charset="0"/>
              </a:rPr>
              <a:t>Annual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</a:t>
            </a:r>
            <a:r>
              <a:rPr lang="tr-TR" sz="1400" b="0" i="0" dirty="0" err="1">
                <a:effectLst/>
                <a:latin typeface="Menlo" panose="020B0609030804020204" pitchFamily="49" charset="0"/>
              </a:rPr>
              <a:t>Income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(k$)       60.56  15.0  137.0  26.264721</a:t>
            </a:r>
          </a:p>
          <a:p>
            <a:pPr algn="l" latinLnBrk="1">
              <a:buNone/>
            </a:pPr>
            <a:r>
              <a:rPr lang="tr-TR" sz="1400" b="0" i="0" dirty="0" err="1">
                <a:effectLst/>
                <a:latin typeface="Menlo" panose="020B0609030804020204" pitchFamily="49" charset="0"/>
              </a:rPr>
              <a:t>Spending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</a:t>
            </a:r>
            <a:r>
              <a:rPr lang="tr-TR" sz="1400" b="0" i="0" dirty="0" err="1">
                <a:effectLst/>
                <a:latin typeface="Menlo" panose="020B0609030804020204" pitchFamily="49" charset="0"/>
              </a:rPr>
              <a:t>Score</a:t>
            </a:r>
            <a:r>
              <a:rPr lang="tr-TR" sz="1400" b="0" i="0" dirty="0">
                <a:effectLst/>
                <a:latin typeface="Menlo" panose="020B0609030804020204" pitchFamily="49" charset="0"/>
              </a:rPr>
              <a:t> (1-100)   50.20   1.0   99.0  25.823522</a:t>
            </a:r>
            <a:endParaRPr lang="tr-TR" sz="1400" dirty="0"/>
          </a:p>
        </p:txBody>
      </p:sp>
      <p:sp>
        <p:nvSpPr>
          <p:cNvPr id="40" name="Rectangle 1">
            <a:extLst>
              <a:ext uri="{FF2B5EF4-FFF2-40B4-BE49-F238E27FC236}">
                <a16:creationId xmlns:a16="http://schemas.microsoft.com/office/drawing/2014/main" id="{772F126B-039F-B53B-EE0D-62CCAC0F3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800" y="4962510"/>
            <a:ext cx="54879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Key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Insights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from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Statistical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Summary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Wide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Demographics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Customer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age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ranges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from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18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to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70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indicating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diverse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target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audience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, not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just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youth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or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elderly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Variance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Annual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varies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significantly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15k - 137k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),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suggesting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presence of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distinct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economic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segments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low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vs.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high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earners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Balanced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average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is 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50.2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showing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balanced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distribution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between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high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low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spenders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-10829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410200" cy="1600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828800"/>
            <a:ext cx="36195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971675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2050" y="26574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2050" y="28860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390900"/>
            <a:ext cx="5410200" cy="1600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581400"/>
            <a:ext cx="3810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7242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1100" y="44100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1100" y="46386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2096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638300"/>
            <a:ext cx="5410200" cy="2590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2209800"/>
            <a:ext cx="2667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231457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2819400"/>
            <a:ext cx="32385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2924175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3352800"/>
            <a:ext cx="32385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3457575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4381500"/>
            <a:ext cx="541020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562475"/>
            <a:ext cx="142875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15017" y="4791075"/>
            <a:ext cx="142875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15145" y="5638800"/>
            <a:ext cx="7961561" cy="762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16709" y="5753100"/>
            <a:ext cx="200025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42246" y="594360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46525" y="5753100"/>
            <a:ext cx="2286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46055" y="5943600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97862" y="5943600"/>
            <a:ext cx="13335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72984" y="5753100"/>
            <a:ext cx="285750" cy="3048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Understanding - Feature Selection Rationale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81915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Feature Comparison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1162050" y="1828800"/>
            <a:ext cx="4514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Demographic Features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1162050" y="2095500"/>
            <a:ext cx="451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Age and Gender contain limited predictive power for spending behavior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371600" y="2628900"/>
            <a:ext cx="32064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Inconsistent patterns across age groups</a:t>
            </a:r>
            <a:endParaRPr lang="en-US" sz="1050" dirty="0"/>
          </a:p>
        </p:txBody>
      </p:sp>
      <p:sp>
        <p:nvSpPr>
          <p:cNvPr id="39" name="Text 5"/>
          <p:cNvSpPr/>
          <p:nvPr/>
        </p:nvSpPr>
        <p:spPr>
          <a:xfrm>
            <a:off x="1371600" y="2857500"/>
            <a:ext cx="38644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Gender doesn't correlate with purchasing power</a:t>
            </a:r>
            <a:endParaRPr lang="en-US" sz="1050" dirty="0"/>
          </a:p>
        </p:txBody>
      </p:sp>
      <p:sp>
        <p:nvSpPr>
          <p:cNvPr id="40" name="Text 6"/>
          <p:cNvSpPr/>
          <p:nvPr/>
        </p:nvSpPr>
        <p:spPr>
          <a:xfrm>
            <a:off x="1181100" y="35814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Behavioral Features</a:t>
            </a:r>
            <a:endParaRPr lang="en-US" sz="1350" dirty="0"/>
          </a:p>
        </p:txBody>
      </p:sp>
      <p:sp>
        <p:nvSpPr>
          <p:cNvPr id="41" name="Text 7"/>
          <p:cNvSpPr/>
          <p:nvPr/>
        </p:nvSpPr>
        <p:spPr>
          <a:xfrm>
            <a:off x="1181100" y="38481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Income and Spending Score capture actual purchasing behavior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1390650" y="4381500"/>
            <a:ext cx="3258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Direct correlation with purchasing power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1390650" y="4610100"/>
            <a:ext cx="39047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Spending Score reflects loyalty and engagement</a:t>
            </a:r>
            <a:endParaRPr lang="en-US" sz="1050" dirty="0"/>
          </a:p>
        </p:txBody>
      </p:sp>
      <p:sp>
        <p:nvSpPr>
          <p:cNvPr id="44" name="Text 10"/>
          <p:cNvSpPr/>
          <p:nvPr/>
        </p:nvSpPr>
        <p:spPr>
          <a:xfrm>
            <a:off x="662940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Why This Matters</a:t>
            </a:r>
            <a:endParaRPr lang="en-US" sz="1800" dirty="0"/>
          </a:p>
        </p:txBody>
      </p:sp>
      <p:sp>
        <p:nvSpPr>
          <p:cNvPr id="45" name="Text 11"/>
          <p:cNvSpPr/>
          <p:nvPr/>
        </p:nvSpPr>
        <p:spPr>
          <a:xfrm>
            <a:off x="6515100" y="18288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46" name="Text 12"/>
          <p:cNvSpPr/>
          <p:nvPr/>
        </p:nvSpPr>
        <p:spPr>
          <a:xfrm>
            <a:off x="6896100" y="22098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Our initial exploration showed that buying behavior is best captured by intersecting Income against Spending Score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6953250" y="2819400"/>
            <a:ext cx="42523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Annual Income</a:t>
            </a: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represents purchasing power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6953250" y="33528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Spending Score</a:t>
            </a: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(1-100) is a proprietary metric assigning a 'loyalty' score based on past behavior (1 = Low spend, 100 = High spend)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6696075" y="45339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By focusing on these behavioral features, we can create segments that directly impact the mall's bottom line 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2432015" y="6096000"/>
            <a:ext cx="769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Raw Data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3764310" y="6096000"/>
            <a:ext cx="13930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5603319" y="6057900"/>
            <a:ext cx="21706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Income vs. Spending Score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8200043" y="6096000"/>
            <a:ext cx="163163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Customer Segments</a:t>
            </a:r>
            <a:endParaRPr lang="en-US" sz="1050" dirty="0"/>
          </a:p>
        </p:txBody>
      </p:sp>
      <p:pic>
        <p:nvPicPr>
          <p:cNvPr id="3" name="Image 9" descr="preencoded.png">
            <a:extLst>
              <a:ext uri="{FF2B5EF4-FFF2-40B4-BE49-F238E27FC236}">
                <a16:creationId xmlns:a16="http://schemas.microsoft.com/office/drawing/2014/main" id="{DFD7F90E-FA87-EE63-490F-EFEA990E451A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sharpenSoften amount="-2000"/>
                    </a14:imgEffect>
                    <a14:imgEffect>
                      <a14:saturation sat="400000"/>
                    </a14:imgEffect>
                    <a14:imgEffect>
                      <a14:brightnessContrast bright="-70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49658" y="5801280"/>
            <a:ext cx="283283" cy="25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C676-BD6A-9764-CBBB-5A8DC4EF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9483DCC-2B77-DEF0-0BE0-4D781D944C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BC1AF63-DFAE-F730-FD6D-BC273063C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4" name="Text 0">
            <a:extLst>
              <a:ext uri="{FF2B5EF4-FFF2-40B4-BE49-F238E27FC236}">
                <a16:creationId xmlns:a16="http://schemas.microsoft.com/office/drawing/2014/main" id="{16D82242-33A2-BF10-980C-2476932F7633}"/>
              </a:ext>
            </a:extLst>
          </p:cNvPr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Understanding </a:t>
            </a:r>
            <a:endParaRPr lang="en-US" sz="2700" dirty="0"/>
          </a:p>
        </p:txBody>
      </p:sp>
      <p:pic>
        <p:nvPicPr>
          <p:cNvPr id="56" name="Resim 55" descr="metin, ekran görüntüsü, diyagram, ka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3514682-701D-A059-9C4E-3106608CB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16126"/>
            <a:ext cx="4229470" cy="3825748"/>
          </a:xfrm>
          <a:prstGeom prst="rect">
            <a:avLst/>
          </a:prstGeom>
        </p:spPr>
      </p:pic>
      <p:pic>
        <p:nvPicPr>
          <p:cNvPr id="58" name="Resim 57" descr="diyagram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639C270-4D40-183C-6548-5AAEC32BC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329" y="1516126"/>
            <a:ext cx="6865434" cy="2845859"/>
          </a:xfrm>
          <a:prstGeom prst="rect">
            <a:avLst/>
          </a:prstGeom>
        </p:spPr>
      </p:pic>
      <p:sp>
        <p:nvSpPr>
          <p:cNvPr id="59" name="Text 1">
            <a:extLst>
              <a:ext uri="{FF2B5EF4-FFF2-40B4-BE49-F238E27FC236}">
                <a16:creationId xmlns:a16="http://schemas.microsoft.com/office/drawing/2014/main" id="{CF9BC948-16C6-A59B-7B5F-B173E83E8C0C}"/>
              </a:ext>
            </a:extLst>
          </p:cNvPr>
          <p:cNvSpPr/>
          <p:nvPr/>
        </p:nvSpPr>
        <p:spPr>
          <a:xfrm>
            <a:off x="457200" y="11430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Correlation Matrix</a:t>
            </a:r>
            <a:endParaRPr lang="en-US" sz="180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00E483FC-ED1D-497B-AAEA-8BE336364371}"/>
              </a:ext>
            </a:extLst>
          </p:cNvPr>
          <p:cNvSpPr/>
          <p:nvPr/>
        </p:nvSpPr>
        <p:spPr>
          <a:xfrm>
            <a:off x="5054329" y="11430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Distributions</a:t>
            </a:r>
            <a:endParaRPr lang="en-US" sz="1800" dirty="0"/>
          </a:p>
        </p:txBody>
      </p:sp>
      <p:sp>
        <p:nvSpPr>
          <p:cNvPr id="61" name="Rectangle 1">
            <a:extLst>
              <a:ext uri="{FF2B5EF4-FFF2-40B4-BE49-F238E27FC236}">
                <a16:creationId xmlns:a16="http://schemas.microsoft.com/office/drawing/2014/main" id="{6366506A-7CAC-85DF-99DA-77CF1CC07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329" y="4437727"/>
            <a:ext cx="668047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Distribution Analysis: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distribution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is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right-skewed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showing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few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very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wealthy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individuals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outliers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)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larger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mass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of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middle-income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customers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follows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somewhat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normal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distribution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but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shows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multimodality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hinting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natural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groups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waiting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be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segmented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2">
            <a:extLst>
              <a:ext uri="{FF2B5EF4-FFF2-40B4-BE49-F238E27FC236}">
                <a16:creationId xmlns:a16="http://schemas.microsoft.com/office/drawing/2014/main" id="{1D2BA274-AF01-0F7C-3846-78BF718E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04996"/>
            <a:ext cx="112776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Correlation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Analysis: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Observation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correlation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between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1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Annual</a:t>
            </a:r>
            <a:r>
              <a:rPr kumimoji="0" lang="tr-TR" altLang="tr-TR" sz="1400" b="0" i="1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1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1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Spending</a:t>
            </a:r>
            <a:r>
              <a:rPr kumimoji="0" lang="tr-TR" altLang="tr-TR" sz="1400" b="0" i="1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1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is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near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zero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~0.01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Implication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High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does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not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guarantee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high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 Since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there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is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no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linear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relationship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standard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regression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models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fail.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This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confirms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that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Clustering (K-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Means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)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is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correct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approach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find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hidden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patterns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1326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75" y="1181100"/>
            <a:ext cx="18288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25" y="1333500"/>
            <a:ext cx="41910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425" y="14478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9950" y="1724025"/>
            <a:ext cx="381000" cy="19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825" y="1181100"/>
            <a:ext cx="1828800" cy="1104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1333500"/>
            <a:ext cx="4191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2975" y="14478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0" y="1724025"/>
            <a:ext cx="3810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1181100"/>
            <a:ext cx="182880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0413" y="1333500"/>
            <a:ext cx="466725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4713" y="14478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1050" y="1724025"/>
            <a:ext cx="3810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925" y="1181100"/>
            <a:ext cx="18288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5963" y="1333500"/>
            <a:ext cx="466725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20263" y="1447800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2619375"/>
            <a:ext cx="28575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3048000"/>
            <a:ext cx="5410200" cy="3200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3238500"/>
            <a:ext cx="28575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900" y="334327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" y="4076700"/>
            <a:ext cx="3048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" y="41814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" y="5143500"/>
            <a:ext cx="28575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900" y="5248275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619375"/>
            <a:ext cx="257175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048000"/>
            <a:ext cx="5410200" cy="2095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3238500"/>
            <a:ext cx="5029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3848100"/>
            <a:ext cx="2667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91300" y="3952875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5295900"/>
            <a:ext cx="5410200" cy="762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77000" y="5476875"/>
            <a:ext cx="1524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Preparation - Preprocessing Pipeline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1868686" y="1905000"/>
            <a:ext cx="9679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37" name="Text 2"/>
          <p:cNvSpPr/>
          <p:nvPr/>
        </p:nvSpPr>
        <p:spPr>
          <a:xfrm>
            <a:off x="3939540" y="1905000"/>
            <a:ext cx="18173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38" name="Text 3"/>
          <p:cNvSpPr/>
          <p:nvPr/>
        </p:nvSpPr>
        <p:spPr>
          <a:xfrm>
            <a:off x="6619756" y="1905000"/>
            <a:ext cx="14480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9077265" y="1905000"/>
            <a:ext cx="15241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Feature Matrix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819150" y="25908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Preprocessing Steps</a:t>
            </a:r>
            <a:endParaRPr lang="en-US" sz="1800" dirty="0"/>
          </a:p>
        </p:txBody>
      </p:sp>
      <p:sp>
        <p:nvSpPr>
          <p:cNvPr id="41" name="Text 6"/>
          <p:cNvSpPr/>
          <p:nvPr/>
        </p:nvSpPr>
        <p:spPr>
          <a:xfrm>
            <a:off x="1085850" y="3238500"/>
            <a:ext cx="4591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Robust Data Ingestion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1085850" y="34671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Built a robust loader to handle different CSV formats (standard vs. Excel-style) to ensure data integrity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1104900" y="4076700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Behavioral Focus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1104900" y="4305300"/>
            <a:ext cx="4572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Filtering the dataset to isolate behavioral features, removing demographic noise that doesn't impact segmentation</a:t>
            </a: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1085850" y="5143500"/>
            <a:ext cx="4591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Feature Matrix Creation</a:t>
            </a: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1085850" y="53721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Selected only the most relevant features (Income and Spending Score) to reduce dimensionality and improve model performance</a:t>
            </a: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6657975" y="25908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Code Implementation</a:t>
            </a:r>
            <a:endParaRPr lang="en-US" sz="1800" dirty="0"/>
          </a:p>
        </p:txBody>
      </p:sp>
      <p:sp>
        <p:nvSpPr>
          <p:cNvPr id="48" name="Text 13"/>
          <p:cNvSpPr/>
          <p:nvPr/>
        </p:nvSpPr>
        <p:spPr>
          <a:xfrm>
            <a:off x="6667500" y="335280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E6D3"/>
                </a:solidFill>
                <a:ea typeface="Courier New" pitchFamily="34" charset="-122"/>
                <a:cs typeface="Courier New" pitchFamily="34" charset="-120"/>
              </a:rPr>
              <a:t>X = df.iloc[:, [3, 4]].values</a:t>
            </a: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6934200" y="38100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6934200" y="4038600"/>
            <a:ext cx="46101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This creates a feature matrix X containing only Income (Index 3) and Spending Score (Index 4), which is required for the K-Means algorithm to calculate spatial distances effectively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6705600" y="54483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Including irrelevant features like 'Customer ID' would have confused the clustering algorithm and reduced its effectiveness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-414"/>
            <a:ext cx="12192000" cy="685841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334000" cy="2819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866900"/>
            <a:ext cx="3048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9716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7051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8098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54330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648075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686300"/>
            <a:ext cx="5334000" cy="1943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4914900"/>
            <a:ext cx="142875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1240" y="323954"/>
            <a:ext cx="5334000" cy="114289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3177" y="530469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1740" y="778119"/>
            <a:ext cx="49530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73368" y="2116134"/>
            <a:ext cx="5334000" cy="3657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0963" y="2365367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0463" y="2708267"/>
            <a:ext cx="2583232" cy="1181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57604" y="3451217"/>
            <a:ext cx="707678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65282" y="3451217"/>
            <a:ext cx="373559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38840" y="3451217"/>
            <a:ext cx="573733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75259" y="3451217"/>
            <a:ext cx="572988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01166" y="3451217"/>
            <a:ext cx="472529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72325" y="3135344"/>
            <a:ext cx="200025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82863" y="2698328"/>
            <a:ext cx="1841599" cy="1191039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166530" y="3470267"/>
            <a:ext cx="572988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77618" y="3470267"/>
            <a:ext cx="472529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80963" y="4041767"/>
            <a:ext cx="4953000" cy="1562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28713" y="4498967"/>
            <a:ext cx="2857500" cy="9525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Preparation - Feature Engineering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762000" y="118110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Feature Selection Process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143000" y="1866900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Purposeful Filtering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1143000" y="20955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We purposely filtered the dataset to isolate behavioral features, removing noise from demographic data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1143000" y="2705100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Column Selection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1143000" y="29337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Selected only the columns that directly relate to customer spending behavior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1181100" y="35433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Feature Matrix Creation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1181100" y="37719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Created matrix X containing only Income and Spending Score for K-Means clustering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6966763" y="465364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E6D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Code Implementation</a:t>
            </a:r>
            <a:endParaRPr lang="en-US" sz="1500" dirty="0"/>
          </a:p>
        </p:txBody>
      </p:sp>
      <p:sp>
        <p:nvSpPr>
          <p:cNvPr id="44" name="Text 12"/>
          <p:cNvSpPr/>
          <p:nvPr/>
        </p:nvSpPr>
        <p:spPr>
          <a:xfrm>
            <a:off x="6743699" y="866775"/>
            <a:ext cx="4953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7A9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Extract relevant features for clustering</a:t>
            </a:r>
            <a:r>
              <a:rPr lang="en-US" sz="105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7A9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df.iloc[:, [</a:t>
            </a:r>
            <a:r>
              <a:rPr lang="en-US" sz="10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5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]].values;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6847663" y="2327267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Data Transformation</a:t>
            </a:r>
            <a:endParaRPr lang="en-US" sz="1500" dirty="0"/>
          </a:p>
        </p:txBody>
      </p:sp>
      <p:sp>
        <p:nvSpPr>
          <p:cNvPr id="46" name="Text 14"/>
          <p:cNvSpPr/>
          <p:nvPr/>
        </p:nvSpPr>
        <p:spPr>
          <a:xfrm>
            <a:off x="6695263" y="2822567"/>
            <a:ext cx="1422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Before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6553028" y="3127367"/>
            <a:ext cx="1706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Raw Dataset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6433804" y="3451217"/>
            <a:ext cx="70767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Customer ID</a:t>
            </a:r>
            <a:endParaRPr lang="en-US" sz="900" dirty="0"/>
          </a:p>
        </p:txBody>
      </p:sp>
      <p:sp>
        <p:nvSpPr>
          <p:cNvPr id="49" name="Text 17"/>
          <p:cNvSpPr/>
          <p:nvPr/>
        </p:nvSpPr>
        <p:spPr>
          <a:xfrm>
            <a:off x="7141482" y="3451217"/>
            <a:ext cx="44827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Age</a:t>
            </a:r>
            <a:endParaRPr lang="en-US" sz="900" dirty="0"/>
          </a:p>
        </p:txBody>
      </p:sp>
      <p:sp>
        <p:nvSpPr>
          <p:cNvPr id="50" name="Text 18"/>
          <p:cNvSpPr/>
          <p:nvPr/>
        </p:nvSpPr>
        <p:spPr>
          <a:xfrm>
            <a:off x="7515040" y="3451217"/>
            <a:ext cx="6884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Gender</a:t>
            </a:r>
            <a:endParaRPr lang="en-US" sz="900" dirty="0"/>
          </a:p>
        </p:txBody>
      </p:sp>
      <p:sp>
        <p:nvSpPr>
          <p:cNvPr id="51" name="Text 19"/>
          <p:cNvSpPr/>
          <p:nvPr/>
        </p:nvSpPr>
        <p:spPr>
          <a:xfrm>
            <a:off x="8051459" y="3451217"/>
            <a:ext cx="68758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Income</a:t>
            </a:r>
            <a:endParaRPr lang="en-US" sz="900" dirty="0"/>
          </a:p>
        </p:txBody>
      </p:sp>
      <p:sp>
        <p:nvSpPr>
          <p:cNvPr id="52" name="Text 20"/>
          <p:cNvSpPr/>
          <p:nvPr/>
        </p:nvSpPr>
        <p:spPr>
          <a:xfrm>
            <a:off x="8577366" y="3451217"/>
            <a:ext cx="56703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Score</a:t>
            </a:r>
            <a:endParaRPr lang="en-US" sz="900" dirty="0"/>
          </a:p>
        </p:txBody>
      </p:sp>
      <p:sp>
        <p:nvSpPr>
          <p:cNvPr id="53" name="Text 21"/>
          <p:cNvSpPr/>
          <p:nvPr/>
        </p:nvSpPr>
        <p:spPr>
          <a:xfrm>
            <a:off x="9997164" y="2898767"/>
            <a:ext cx="1422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After</a:t>
            </a:r>
            <a:endParaRPr lang="en-US" sz="1200" dirty="0"/>
          </a:p>
        </p:txBody>
      </p:sp>
      <p:sp>
        <p:nvSpPr>
          <p:cNvPr id="54" name="Text 22"/>
          <p:cNvSpPr/>
          <p:nvPr/>
        </p:nvSpPr>
        <p:spPr>
          <a:xfrm>
            <a:off x="9854929" y="3203567"/>
            <a:ext cx="1706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Feature Matrix X</a:t>
            </a:r>
            <a:endParaRPr lang="en-US" sz="1050" dirty="0"/>
          </a:p>
        </p:txBody>
      </p:sp>
      <p:sp>
        <p:nvSpPr>
          <p:cNvPr id="55" name="Text 23"/>
          <p:cNvSpPr/>
          <p:nvPr/>
        </p:nvSpPr>
        <p:spPr>
          <a:xfrm>
            <a:off x="10242730" y="3470267"/>
            <a:ext cx="6875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Income</a:t>
            </a:r>
            <a:endParaRPr lang="en-US" sz="900" dirty="0"/>
          </a:p>
        </p:txBody>
      </p:sp>
      <p:sp>
        <p:nvSpPr>
          <p:cNvPr id="56" name="Text 24"/>
          <p:cNvSpPr/>
          <p:nvPr/>
        </p:nvSpPr>
        <p:spPr>
          <a:xfrm>
            <a:off x="10853818" y="3470267"/>
            <a:ext cx="567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Score</a:t>
            </a:r>
            <a:endParaRPr lang="en-US" sz="900" dirty="0"/>
          </a:p>
        </p:txBody>
      </p:sp>
      <p:sp>
        <p:nvSpPr>
          <p:cNvPr id="57" name="Text 25"/>
          <p:cNvSpPr/>
          <p:nvPr/>
        </p:nvSpPr>
        <p:spPr>
          <a:xfrm>
            <a:off x="6733363" y="4194167"/>
            <a:ext cx="4648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K-Means Algorithm Input</a:t>
            </a:r>
            <a:endParaRPr lang="en-US" sz="12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6B0A88-C67B-15AB-FA55-3813C8DEE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98" y="5143381"/>
            <a:ext cx="517996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Transformation</a:t>
            </a: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 </a:t>
            </a: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Feature</a:t>
            </a: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Scaling</a:t>
            </a: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Crucial</a:t>
            </a: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Step)</a:t>
            </a: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Why</a:t>
            </a: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'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Annual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'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feature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Range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 15k-137k)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dominates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'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' (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Range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 1-100)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due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to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larger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magnitude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Action: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Applied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StandardScaler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to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normalize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both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features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to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a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mean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of 0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variance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of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2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Result</a:t>
            </a:r>
            <a:r>
              <a:rPr kumimoji="0" lang="tr-TR" altLang="tr-TR" sz="12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Ensures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that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the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K-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Means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algorithm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treats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both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Income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and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Spending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Score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with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equal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importance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when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calculating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Euclidean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2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distances</a:t>
            </a:r>
            <a:r>
              <a:rPr kumimoji="0" lang="tr-TR" altLang="tr-TR" sz="12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04900"/>
            <a:ext cx="5619750" cy="2324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295400"/>
            <a:ext cx="40005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097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1981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7684" y="20002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68" y="2667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6942" y="2675309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104900"/>
            <a:ext cx="5334000" cy="2476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1295400"/>
            <a:ext cx="371475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1409700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1905000"/>
            <a:ext cx="2419350" cy="685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205740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4950" y="1905000"/>
            <a:ext cx="2419350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0" y="20574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2705100"/>
            <a:ext cx="241935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28575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4950" y="2705100"/>
            <a:ext cx="241935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9250" y="28575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733800"/>
            <a:ext cx="5334000" cy="1524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3886200"/>
            <a:ext cx="3048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39909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4343400"/>
            <a:ext cx="5029200" cy="7620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Modeling - Algorithm Selection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1200150" y="1390650"/>
            <a:ext cx="306359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Algorithm Selection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923925" y="1924050"/>
            <a:ext cx="21879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K-Means Clustering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923925" y="2200275"/>
            <a:ext cx="4846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For customer segmentation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3590003" y="1918406"/>
            <a:ext cx="149286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n_clusters=5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3581401" y="2178051"/>
            <a:ext cx="403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Based on data analysis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933450" y="2613026"/>
            <a:ext cx="20441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init='k-means++'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923925" y="2918636"/>
            <a:ext cx="4846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Optimizes centroid placement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3596492" y="2617382"/>
            <a:ext cx="2062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random_state=42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3596492" y="2926270"/>
            <a:ext cx="4846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Ensures reproducible results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7115175" y="1390650"/>
            <a:ext cx="223670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Why K-Means?</a:t>
            </a:r>
            <a:endParaRPr lang="en-US" sz="1800" dirty="0"/>
          </a:p>
        </p:txBody>
      </p:sp>
      <p:sp>
        <p:nvSpPr>
          <p:cNvPr id="38" name="Text 11"/>
          <p:cNvSpPr/>
          <p:nvPr/>
        </p:nvSpPr>
        <p:spPr>
          <a:xfrm>
            <a:off x="6953250" y="2019300"/>
            <a:ext cx="2285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Computational Efficiency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6705600" y="2286000"/>
            <a:ext cx="2628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Fast with large datasets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9467850" y="2019300"/>
            <a:ext cx="19063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Cluster Identification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9239250" y="2286000"/>
            <a:ext cx="2628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Identifies spherical clusters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6934200" y="2819400"/>
            <a:ext cx="15276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Continuous Data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6705600" y="3086100"/>
            <a:ext cx="2628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For spending &amp; income analysis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9505950" y="2819400"/>
            <a:ext cx="15953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Distinct Grouping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9239250" y="3086100"/>
            <a:ext cx="2628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Creates customer segments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6972300" y="3943350"/>
            <a:ext cx="32061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K-Means Clustering Concept</a:t>
            </a:r>
            <a:endParaRPr lang="en-US" sz="1500" dirty="0"/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2C19B8DB-83F8-4066-BC1F-CACB180C9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674218"/>
              </p:ext>
            </p:extLst>
          </p:nvPr>
        </p:nvGraphicFramePr>
        <p:xfrm>
          <a:off x="457200" y="3543300"/>
          <a:ext cx="5600994" cy="32020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1919">
                  <a:extLst>
                    <a:ext uri="{9D8B030D-6E8A-4147-A177-3AD203B41FA5}">
                      <a16:colId xmlns:a16="http://schemas.microsoft.com/office/drawing/2014/main" val="2880869250"/>
                    </a:ext>
                  </a:extLst>
                </a:gridCol>
                <a:gridCol w="4479075">
                  <a:extLst>
                    <a:ext uri="{9D8B030D-6E8A-4147-A177-3AD203B41FA5}">
                      <a16:colId xmlns:a16="http://schemas.microsoft.com/office/drawing/2014/main" val="3247828650"/>
                    </a:ext>
                  </a:extLst>
                </a:gridCol>
              </a:tblGrid>
              <a:tr h="29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>
                          <a:solidFill>
                            <a:srgbClr val="2C3E4F"/>
                          </a:solidFill>
                          <a:effectLst/>
                        </a:rPr>
                        <a:t>Criteria</a:t>
                      </a:r>
                      <a:endParaRPr lang="tr-TR" sz="14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>
                          <a:solidFill>
                            <a:srgbClr val="2C3E4F"/>
                          </a:solidFill>
                          <a:effectLst/>
                        </a:rPr>
                        <a:t>Rationale for Choosing K-Means</a:t>
                      </a:r>
                      <a:endParaRPr lang="tr-TR" sz="14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96612"/>
                  </a:ext>
                </a:extLst>
              </a:tr>
              <a:tr h="70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>
                          <a:solidFill>
                            <a:srgbClr val="2C3E4F"/>
                          </a:solidFill>
                          <a:effectLst/>
                        </a:rPr>
                        <a:t>1. Interpretability</a:t>
                      </a:r>
                      <a:endParaRPr lang="tr-TR" sz="14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200" b="1">
                          <a:solidFill>
                            <a:srgbClr val="2C3E4F"/>
                          </a:solidFill>
                          <a:effectLst/>
                        </a:rPr>
                        <a:t>Business-Friendly:</a:t>
                      </a:r>
                      <a:r>
                        <a:rPr lang="tr-TR" sz="1200">
                          <a:solidFill>
                            <a:srgbClr val="2C3E4F"/>
                          </a:solidFill>
                          <a:effectLst/>
                        </a:rPr>
                        <a:t> It provides clear, non-overlapping boundaries (e.g., "High Income vs. Low Score"), making it easy to explain to the marketing team.</a:t>
                      </a:r>
                      <a:endParaRPr lang="tr-TR" sz="12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08409"/>
                  </a:ext>
                </a:extLst>
              </a:tr>
              <a:tr h="62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>
                          <a:solidFill>
                            <a:srgbClr val="2C3E4F"/>
                          </a:solidFill>
                          <a:effectLst/>
                        </a:rPr>
                        <a:t>2. Scalability</a:t>
                      </a:r>
                      <a:endParaRPr lang="tr-TR" sz="14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200" b="1">
                          <a:solidFill>
                            <a:srgbClr val="2C3E4F"/>
                          </a:solidFill>
                          <a:effectLst/>
                        </a:rPr>
                        <a:t>High Performance:</a:t>
                      </a:r>
                      <a:r>
                        <a:rPr lang="tr-TR" sz="1200">
                          <a:solidFill>
                            <a:srgbClr val="2C3E4F"/>
                          </a:solidFill>
                          <a:effectLst/>
                        </a:rPr>
                        <a:t> Unlike Hierarchical Clustering, K-Means is computationally efficient and scales well as our customer database grows.</a:t>
                      </a:r>
                      <a:endParaRPr lang="tr-TR" sz="12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932245"/>
                  </a:ext>
                </a:extLst>
              </a:tr>
              <a:tr h="76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>
                          <a:solidFill>
                            <a:srgbClr val="2C3E4F"/>
                          </a:solidFill>
                          <a:effectLst/>
                        </a:rPr>
                        <a:t>3. Full Coverage</a:t>
                      </a:r>
                      <a:endParaRPr lang="tr-TR" sz="14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200" b="1" dirty="0">
                          <a:solidFill>
                            <a:srgbClr val="2C3E4F"/>
                          </a:solidFill>
                          <a:effectLst/>
                        </a:rPr>
                        <a:t>No "</a:t>
                      </a:r>
                      <a:r>
                        <a:rPr lang="tr-TR" sz="1200" b="1" dirty="0" err="1">
                          <a:solidFill>
                            <a:srgbClr val="2C3E4F"/>
                          </a:solidFill>
                          <a:effectLst/>
                        </a:rPr>
                        <a:t>Unclustered</a:t>
                      </a:r>
                      <a:r>
                        <a:rPr lang="tr-TR" sz="1200" b="1" dirty="0">
                          <a:solidFill>
                            <a:srgbClr val="2C3E4F"/>
                          </a:solidFill>
                          <a:effectLst/>
                        </a:rPr>
                        <a:t>" </a:t>
                      </a:r>
                      <a:r>
                        <a:rPr lang="tr-TR" sz="1200" b="1" dirty="0" err="1">
                          <a:solidFill>
                            <a:srgbClr val="2C3E4F"/>
                          </a:solidFill>
                          <a:effectLst/>
                        </a:rPr>
                        <a:t>Customers</a:t>
                      </a:r>
                      <a:r>
                        <a:rPr lang="tr-TR" sz="1200" b="1" dirty="0">
                          <a:solidFill>
                            <a:srgbClr val="2C3E4F"/>
                          </a:solidFill>
                          <a:effectLst/>
                        </a:rPr>
                        <a:t>: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 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Unlike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DBSCAN,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which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treats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outliers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as "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noise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" (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discarding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them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), K-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Means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assigns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 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every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 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customer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to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a segment,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ensuring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no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marketing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opportunity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is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lost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.</a:t>
                      </a:r>
                      <a:endParaRPr lang="tr-TR" sz="1200" dirty="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32056"/>
                  </a:ext>
                </a:extLst>
              </a:tr>
              <a:tr h="76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>
                          <a:solidFill>
                            <a:srgbClr val="2C3E4F"/>
                          </a:solidFill>
                          <a:effectLst/>
                        </a:rPr>
                        <a:t>4. Strategic Control</a:t>
                      </a:r>
                      <a:endParaRPr lang="tr-TR" sz="140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200" b="1" dirty="0" err="1">
                          <a:solidFill>
                            <a:srgbClr val="2C3E4F"/>
                          </a:solidFill>
                          <a:effectLst/>
                        </a:rPr>
                        <a:t>Flexible</a:t>
                      </a:r>
                      <a:r>
                        <a:rPr lang="tr-TR" sz="1200" b="1" dirty="0">
                          <a:solidFill>
                            <a:srgbClr val="2C3E4F"/>
                          </a:solidFill>
                          <a:effectLst/>
                        </a:rPr>
                        <a:t> K-Value: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 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It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allows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us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to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determine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the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optimal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number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of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campaigns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(K=5)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based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on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both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the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Elbow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Method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and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business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capacity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,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rather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than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letting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the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algorithm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decide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 </a:t>
                      </a:r>
                      <a:r>
                        <a:rPr lang="tr-TR" sz="1200" dirty="0" err="1">
                          <a:solidFill>
                            <a:srgbClr val="2C3E4F"/>
                          </a:solidFill>
                          <a:effectLst/>
                        </a:rPr>
                        <a:t>arbitrarily</a:t>
                      </a:r>
                      <a:r>
                        <a:rPr lang="tr-TR" sz="1200" dirty="0">
                          <a:solidFill>
                            <a:srgbClr val="2C3E4F"/>
                          </a:solidFill>
                          <a:effectLst/>
                        </a:rPr>
                        <a:t>.</a:t>
                      </a:r>
                      <a:endParaRPr lang="tr-TR" sz="1200" dirty="0">
                        <a:solidFill>
                          <a:srgbClr val="2C3E4F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0387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410200" cy="1028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62150"/>
            <a:ext cx="3048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669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19400"/>
            <a:ext cx="54102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14325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2480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000500"/>
            <a:ext cx="541020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210050"/>
            <a:ext cx="3048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31482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209675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638300"/>
            <a:ext cx="5410200" cy="3657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790700"/>
            <a:ext cx="5105400" cy="345147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5934075"/>
            <a:ext cx="11277600" cy="4667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95364" y="6076950"/>
            <a:ext cx="1905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Modeling - Configuration &amp; Hyperparameters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762000" y="11811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Model Configuration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028700" y="17907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n_clusters=5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1028700" y="20574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Determined by analyzing the data distribution (Elbow Method implies 5 distinct groups)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028700" y="29718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init='k-means++'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028700" y="32385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Optimizes the initial centroid placement for faster convergence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028700" y="4152900"/>
            <a:ext cx="407476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random_state=42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1028700" y="4419600"/>
            <a:ext cx="48897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Ensures results are reproducible across different runs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6686550" y="11811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K-Means Clustering Process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571500" y="6048375"/>
            <a:ext cx="110490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Configuration Code: </a:t>
            </a:r>
            <a:r>
              <a:rPr lang="en-US" sz="1200" dirty="0">
                <a:solidFill>
                  <a:srgbClr val="2C3E50"/>
                </a:solidFill>
                <a:highlight>
                  <a:srgbClr val="F3F4F6"/>
                </a:highlight>
                <a:ea typeface="ui-monospace" pitchFamily="34" charset="-122"/>
                <a:cs typeface="ui-monospace" pitchFamily="34" charset="-120"/>
              </a:rPr>
              <a:t>kmeans = KMeans(n_clusters=5, init='k-means++, random_state=42)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410200" cy="1638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828800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933575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6289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733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495675"/>
            <a:ext cx="2571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924300"/>
            <a:ext cx="541020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295900"/>
            <a:ext cx="54102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46735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209675"/>
            <a:ext cx="25717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638300"/>
            <a:ext cx="5410200" cy="3048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4876800"/>
            <a:ext cx="2628900" cy="1104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523875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534352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5900" y="4876800"/>
            <a:ext cx="2628900" cy="1104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8300" y="5143500"/>
            <a:ext cx="3429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34500" y="5248275"/>
            <a:ext cx="1905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Modeling - Implementation &amp; Execution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81915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Implementation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104900" y="1828800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K-Means Configuration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1104900" y="2057400"/>
            <a:ext cx="4572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Configured to find 5 distinct groups (n_clusters=5) with optimized centroid placement (init='k-means++')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066800" y="2628900"/>
            <a:ext cx="40051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Random State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1066800" y="2857500"/>
            <a:ext cx="4806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Set random_state=42 to ensure reproducible results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790575" y="34671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Code Implementation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571500" y="4038600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kmeans = KMeans(n_clusters=5, init='k-means++', random_state=42)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571500" y="45339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kmeans.fit(X)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571500" y="48006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y_kmeans = kmeans.fit_predict(X)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819150" y="5448300"/>
            <a:ext cx="510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The </a:t>
            </a: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fit_predict</a:t>
            </a: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method learns the geometric centers (centroids) of the groups and assigns every customer to one of the 5 segments.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6657975" y="11811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Execution Visualization</a:t>
            </a:r>
            <a:endParaRPr lang="en-US" sz="1800" dirty="0"/>
          </a:p>
        </p:txBody>
      </p:sp>
      <p:sp>
        <p:nvSpPr>
          <p:cNvPr id="36" name="Text 12"/>
          <p:cNvSpPr/>
          <p:nvPr/>
        </p:nvSpPr>
        <p:spPr>
          <a:xfrm>
            <a:off x="6896100" y="5029200"/>
            <a:ext cx="190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Centroids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6896100" y="5257800"/>
            <a:ext cx="1905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Mathematical "average customers" for each segment</a:t>
            </a:r>
            <a:endParaRPr lang="en-US" sz="1050" dirty="0"/>
          </a:p>
        </p:txBody>
      </p:sp>
      <p:sp>
        <p:nvSpPr>
          <p:cNvPr id="38" name="Text 14"/>
          <p:cNvSpPr/>
          <p:nvPr/>
        </p:nvSpPr>
        <p:spPr>
          <a:xfrm>
            <a:off x="9715500" y="5029200"/>
            <a:ext cx="2240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Cluster Assignment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9715500" y="5257800"/>
            <a:ext cx="1866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Each customer assigned to their closest centroid</a:t>
            </a:r>
            <a:endParaRPr lang="en-US" sz="1050" dirty="0"/>
          </a:p>
        </p:txBody>
      </p:sp>
      <p:pic>
        <p:nvPicPr>
          <p:cNvPr id="3" name="Resim 2" descr="diyagram, ekran görüntüsü, çizg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2781CA9-DDE1-068C-9803-E0AD6B1CC59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9605" y="1762125"/>
            <a:ext cx="4077495" cy="2838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758" y="-32657"/>
            <a:ext cx="12196758" cy="689065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334000" cy="2514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05200"/>
            <a:ext cx="3048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6099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381500"/>
            <a:ext cx="533400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5624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209675"/>
            <a:ext cx="2571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638300"/>
            <a:ext cx="5334000" cy="2971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1866900"/>
            <a:ext cx="4876800" cy="1143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238500"/>
            <a:ext cx="152400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33813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3238500"/>
            <a:ext cx="1524000" cy="1143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96363" y="3381375"/>
            <a:ext cx="142875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82200" y="3238500"/>
            <a:ext cx="1524000" cy="1143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68000" y="33813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38700"/>
            <a:ext cx="53340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5019675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715000"/>
            <a:ext cx="11277600" cy="990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5981700"/>
            <a:ext cx="447675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" y="6096000"/>
            <a:ext cx="219075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Evaluation - Technical Validation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762000" y="11811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Silhouette Score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2560141" y="1866900"/>
            <a:ext cx="135374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0.55</a:t>
            </a:r>
            <a:endParaRPr lang="en-US" sz="3600" dirty="0"/>
          </a:p>
        </p:txBody>
      </p:sp>
      <p:sp>
        <p:nvSpPr>
          <p:cNvPr id="28" name="Text 3"/>
          <p:cNvSpPr/>
          <p:nvPr/>
        </p:nvSpPr>
        <p:spPr>
          <a:xfrm>
            <a:off x="685800" y="247650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Metric:</a:t>
            </a: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Silhouette Score ranges from -1 to +1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685800" y="285750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Interpretation:</a:t>
            </a: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A score of 0.55 indicates reasonably well-separated and cohesive clusters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104900" y="34671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The model has successfully distinguished between different customer behaviors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38200" y="4533900"/>
            <a:ext cx="5029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Technical validation confirms our clustering model is effective at identifying distinct customer segments based on spending behavior.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6734175" y="118110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Score Interpretation</a:t>
            </a:r>
            <a:endParaRPr lang="en-US" sz="1800" dirty="0"/>
          </a:p>
        </p:txBody>
      </p:sp>
      <p:sp>
        <p:nvSpPr>
          <p:cNvPr id="33" name="Text 8"/>
          <p:cNvSpPr/>
          <p:nvPr/>
        </p:nvSpPr>
        <p:spPr>
          <a:xfrm>
            <a:off x="6614160" y="361950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Poor Clusters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614160" y="3848100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Score → -1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8420100" y="3619500"/>
            <a:ext cx="129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Average Clusters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8290560" y="4076700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Score → 0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9966960" y="361950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Good Clusters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9966960" y="3848100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Score → +1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6743700" y="49911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A score of 0.55 demonstrates that our clusters are well-defined and have meaningful distinctions between them.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1209675" y="5886450"/>
            <a:ext cx="103727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Technical Success</a:t>
            </a:r>
            <a:endParaRPr lang="en-US" dirty="0"/>
          </a:p>
        </p:txBody>
      </p:sp>
      <p:sp>
        <p:nvSpPr>
          <p:cNvPr id="41" name="Text 16"/>
          <p:cNvSpPr/>
          <p:nvPr/>
        </p:nvSpPr>
        <p:spPr>
          <a:xfrm>
            <a:off x="1209675" y="6115050"/>
            <a:ext cx="103727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Our K-Means clustering model with 5 clusters successfully identifies distinct customer segments with a Silhouette Score of 0.55, confirming the mathematical validity of our approach</a:t>
            </a: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11655177" y="69342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12/20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F1D0-4D6F-B8DB-8CB8-C74568D1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808627F-81A5-B24D-DF8E-7D2A90D68A1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092C06D-4988-3737-BCFE-DAC3311F9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E9C16542-EC79-2691-85CA-5C9114DD6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231" y="1214913"/>
            <a:ext cx="228600" cy="228600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FF73213B-0E68-8D8D-50CC-90DF99C77227}"/>
              </a:ext>
            </a:extLst>
          </p:cNvPr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Evaluation - Technical Validation</a:t>
            </a:r>
            <a:endParaRPr lang="en-US" sz="27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FBA5C2FC-9159-101B-79D2-F844D10CC95B}"/>
              </a:ext>
            </a:extLst>
          </p:cNvPr>
          <p:cNvSpPr/>
          <p:nvPr/>
        </p:nvSpPr>
        <p:spPr>
          <a:xfrm>
            <a:off x="6551831" y="1164409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Silhouette Score</a:t>
            </a:r>
            <a:endParaRPr lang="en-US" sz="18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AD175955-A71C-DD39-14D8-415392103DA2}"/>
              </a:ext>
            </a:extLst>
          </p:cNvPr>
          <p:cNvSpPr/>
          <p:nvPr/>
        </p:nvSpPr>
        <p:spPr>
          <a:xfrm>
            <a:off x="11655177" y="69342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12/20</a:t>
            </a:r>
            <a:endParaRPr lang="en-US" sz="1050" dirty="0"/>
          </a:p>
        </p:txBody>
      </p:sp>
      <p:pic>
        <p:nvPicPr>
          <p:cNvPr id="43" name="Resim 42" descr="çizgi, diyagram, öykü gelişim çizgisi; kumpas; grafiğini çıkarma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5254AD2-24D1-8A11-941B-A02303F46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169" y="1566817"/>
            <a:ext cx="5667837" cy="4143465"/>
          </a:xfrm>
          <a:prstGeom prst="rect">
            <a:avLst/>
          </a:prstGeom>
        </p:spPr>
      </p:pic>
      <p:pic>
        <p:nvPicPr>
          <p:cNvPr id="45" name="Resim 44" descr="çizgi, öykü gelişim çizgisi; kumpas; grafiğini çıkarma, diyagram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9B42012-B0AB-7F77-0A77-58C20369C3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8252" y="1566817"/>
            <a:ext cx="5747579" cy="4143465"/>
          </a:xfrm>
          <a:prstGeom prst="rect">
            <a:avLst/>
          </a:prstGeom>
        </p:spPr>
      </p:pic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89037611-6D2F-0A21-FD69-35ADF2675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228923"/>
            <a:ext cx="228600" cy="228600"/>
          </a:xfrm>
          <a:prstGeom prst="rect">
            <a:avLst/>
          </a:prstGeom>
        </p:spPr>
      </p:pic>
      <p:sp>
        <p:nvSpPr>
          <p:cNvPr id="47" name="Text 1">
            <a:extLst>
              <a:ext uri="{FF2B5EF4-FFF2-40B4-BE49-F238E27FC236}">
                <a16:creationId xmlns:a16="http://schemas.microsoft.com/office/drawing/2014/main" id="{D1658A5F-86F7-7693-7622-949BF8F709E9}"/>
              </a:ext>
            </a:extLst>
          </p:cNvPr>
          <p:cNvSpPr/>
          <p:nvPr/>
        </p:nvSpPr>
        <p:spPr>
          <a:xfrm>
            <a:off x="571158" y="1176813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Elbow Method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68318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1100"/>
            <a:ext cx="6537871" cy="5219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Evaluation - Visual Validation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85800" y="1333500"/>
            <a:ext cx="62330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Cluster Visualization</a:t>
            </a:r>
            <a:endParaRPr lang="en-US" dirty="0"/>
          </a:p>
        </p:txBody>
      </p:sp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DD5D8BAF-6F43-58E3-054D-CF8D1CBD9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774" y="1181100"/>
            <a:ext cx="4383522" cy="5219700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7947571" y="1409700"/>
            <a:ext cx="45902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Key Observations</a:t>
            </a:r>
            <a:endParaRPr lang="en-US" dirty="0"/>
          </a:p>
        </p:txBody>
      </p:sp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871" y="1447800"/>
            <a:ext cx="190500" cy="190500"/>
          </a:xfrm>
          <a:prstGeom prst="rect">
            <a:avLst/>
          </a:prstGeom>
        </p:spPr>
      </p:pic>
      <p:pic>
        <p:nvPicPr>
          <p:cNvPr id="46" name="Resim 45" descr="diyagram, ekran görüntüsü, çizg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B22718B-FC1E-DD09-E58E-CD7F0C40ED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049" y="1778876"/>
            <a:ext cx="6382822" cy="4443248"/>
          </a:xfrm>
          <a:prstGeom prst="rect">
            <a:avLst/>
          </a:prstGeom>
        </p:spPr>
      </p:pic>
      <p:sp>
        <p:nvSpPr>
          <p:cNvPr id="49" name="Rectangle 2">
            <a:extLst>
              <a:ext uri="{FF2B5EF4-FFF2-40B4-BE49-F238E27FC236}">
                <a16:creationId xmlns:a16="http://schemas.microsoft.com/office/drawing/2014/main" id="{5C961A4C-ED82-8544-3F8F-C852FE10D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428" y="1788450"/>
            <a:ext cx="415286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Cluster </a:t>
            </a:r>
            <a:r>
              <a:rPr lang="tr-TR" altLang="tr-TR" sz="1600" b="1" dirty="0" err="1">
                <a:solidFill>
                  <a:srgbClr val="003654"/>
                </a:solidFill>
              </a:rPr>
              <a:t>Distinct</a:t>
            </a:r>
            <a:r>
              <a:rPr lang="tr-TR" altLang="tr-TR" sz="1600" b="1" dirty="0">
                <a:solidFill>
                  <a:srgbClr val="003654"/>
                </a:solidFill>
              </a:rPr>
              <a:t> </a:t>
            </a:r>
            <a:r>
              <a:rPr lang="tr-TR" altLang="tr-TR" sz="1600" b="1" dirty="0" err="1">
                <a:solidFill>
                  <a:srgbClr val="003654"/>
                </a:solidFill>
              </a:rPr>
              <a:t>Segmentation</a:t>
            </a:r>
            <a:r>
              <a:rPr lang="tr-TR" altLang="tr-TR" sz="1600" b="1" dirty="0">
                <a:solidFill>
                  <a:srgbClr val="003654"/>
                </a:solidFill>
              </a:rPr>
              <a:t>:</a:t>
            </a:r>
            <a:r>
              <a:rPr lang="tr-TR" altLang="tr-TR" sz="1600" dirty="0">
                <a:solidFill>
                  <a:srgbClr val="003654"/>
                </a:solidFill>
              </a:rPr>
              <a:t> </a:t>
            </a:r>
            <a:r>
              <a:rPr lang="tr-TR" altLang="tr-TR" sz="1600" dirty="0" err="1">
                <a:solidFill>
                  <a:srgbClr val="003654"/>
                </a:solidFill>
              </a:rPr>
              <a:t>The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scatter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plot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reveals</a:t>
            </a:r>
            <a:r>
              <a:rPr lang="tr-TR" altLang="tr-TR" sz="1600" dirty="0">
                <a:solidFill>
                  <a:srgbClr val="003654"/>
                </a:solidFill>
              </a:rPr>
              <a:t> 5 </a:t>
            </a:r>
            <a:r>
              <a:rPr lang="tr-TR" altLang="tr-TR" sz="1600" dirty="0" err="1">
                <a:solidFill>
                  <a:srgbClr val="003654"/>
                </a:solidFill>
              </a:rPr>
              <a:t>clearly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separated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clusters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with</a:t>
            </a:r>
            <a:r>
              <a:rPr lang="tr-TR" altLang="tr-TR" sz="1600" dirty="0">
                <a:solidFill>
                  <a:srgbClr val="003654"/>
                </a:solidFill>
              </a:rPr>
              <a:t> minimal </a:t>
            </a:r>
            <a:r>
              <a:rPr lang="tr-TR" altLang="tr-TR" sz="1600" dirty="0" err="1">
                <a:solidFill>
                  <a:srgbClr val="003654"/>
                </a:solidFill>
              </a:rPr>
              <a:t>overlap</a:t>
            </a:r>
            <a:r>
              <a:rPr lang="tr-TR" altLang="tr-TR" sz="1600" dirty="0">
                <a:solidFill>
                  <a:srgbClr val="003654"/>
                </a:solidFill>
              </a:rPr>
              <a:t>, </a:t>
            </a:r>
            <a:r>
              <a:rPr lang="tr-TR" altLang="tr-TR" sz="1600" dirty="0" err="1">
                <a:solidFill>
                  <a:srgbClr val="003654"/>
                </a:solidFill>
              </a:rPr>
              <a:t>validating</a:t>
            </a:r>
            <a:r>
              <a:rPr lang="tr-TR" altLang="tr-TR" sz="1600" dirty="0">
                <a:solidFill>
                  <a:srgbClr val="003654"/>
                </a:solidFill>
              </a:rPr>
              <a:t> </a:t>
            </a:r>
            <a:r>
              <a:rPr lang="tr-TR" altLang="tr-TR" sz="1600" dirty="0" err="1">
                <a:solidFill>
                  <a:srgbClr val="003654"/>
                </a:solidFill>
              </a:rPr>
              <a:t>the</a:t>
            </a:r>
            <a:r>
              <a:rPr lang="tr-TR" altLang="tr-TR" sz="1600" dirty="0">
                <a:solidFill>
                  <a:srgbClr val="003654"/>
                </a:solidFill>
              </a:rPr>
              <a:t> K=5 model </a:t>
            </a:r>
            <a:r>
              <a:rPr lang="tr-TR" altLang="tr-TR" sz="1600" dirty="0" err="1">
                <a:solidFill>
                  <a:srgbClr val="003654"/>
                </a:solidFill>
              </a:rPr>
              <a:t>selection</a:t>
            </a:r>
            <a:r>
              <a:rPr lang="tr-TR" altLang="tr-TR" sz="1600" dirty="0">
                <a:solidFill>
                  <a:srgbClr val="003654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600" dirty="0">
              <a:solidFill>
                <a:srgbClr val="003654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Dynamics: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rgbClr val="003654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Target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Group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(Top-Right):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Customers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with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high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income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high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spending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scores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are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clearly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isolated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Mass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Market (Center):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dense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cluster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in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middle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represents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'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Average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'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consumer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rgbClr val="003654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Centroids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(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Red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Markers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):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red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markers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indicate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mathematical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center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of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each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cluster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representing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"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typical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persona"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for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rgbClr val="003654"/>
                </a:solidFill>
                <a:effectLst/>
              </a:rPr>
              <a:t>that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rgbClr val="003654"/>
                </a:solidFill>
                <a:effectLst/>
              </a:rPr>
              <a:t> segment.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97E7-40ED-501B-5B08-BFF607BF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9D26E04-7989-9303-40B5-3E7545C266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CE87EC4-4D15-252B-5910-42FA7E565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6A6F1C3-3DD2-C32C-21F9-8FF6663CC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" y="1181100"/>
            <a:ext cx="7297429" cy="5219700"/>
          </a:xfrm>
          <a:prstGeom prst="rect">
            <a:avLst/>
          </a:pr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096912B4-C26B-5018-1D7E-5502F5712BEC}"/>
              </a:ext>
            </a:extLst>
          </p:cNvPr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Evaluation – Anomaly Detection</a:t>
            </a:r>
            <a:endParaRPr lang="en-US" sz="27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0378A309-82E2-C275-9146-4BDCC32498D6}"/>
              </a:ext>
            </a:extLst>
          </p:cNvPr>
          <p:cNvSpPr/>
          <p:nvPr/>
        </p:nvSpPr>
        <p:spPr>
          <a:xfrm>
            <a:off x="406737" y="1411985"/>
            <a:ext cx="62330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Anomaly Visualization</a:t>
            </a:r>
            <a:endParaRPr lang="en-US" dirty="0"/>
          </a:p>
        </p:txBody>
      </p:sp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308A126A-472C-F8B2-3480-DEDB1ABA9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871" y="1181100"/>
            <a:ext cx="4383522" cy="5219700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AECBCAA9-C405-A887-45DC-919DE68FC1B5}"/>
              </a:ext>
            </a:extLst>
          </p:cNvPr>
          <p:cNvSpPr/>
          <p:nvPr/>
        </p:nvSpPr>
        <p:spPr>
          <a:xfrm>
            <a:off x="8100131" y="1413509"/>
            <a:ext cx="45902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Key Observations</a:t>
            </a:r>
            <a:endParaRPr lang="en-US" dirty="0"/>
          </a:p>
        </p:txBody>
      </p:sp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17B62497-DD64-169B-E414-9550EC649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631" y="1466850"/>
            <a:ext cx="190500" cy="1905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8D5B99B-8EED-50B9-475E-B0B954EA1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5422" y="1776442"/>
            <a:ext cx="416327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Methodology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(Visual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Encoding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):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We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visualized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cluster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cohesion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using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Euclidean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Distance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.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size of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each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bubble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directly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proportional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how far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that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customer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from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their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segment’s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"ideal"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center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Detection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Larger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bubbles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indicate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'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Edge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Cases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'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anomalies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.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These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customers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who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technically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belong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a segment but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exhibit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unique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extreme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behaviors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compared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group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Insight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While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small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dots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represent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highly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consistent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customers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strong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fit),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large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bubbles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highlight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"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non-standard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"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behavior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.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Identifying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ensures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our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core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strategies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target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majority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while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preventing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outliers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from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skewing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results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.</a:t>
            </a:r>
          </a:p>
        </p:txBody>
      </p:sp>
      <p:pic>
        <p:nvPicPr>
          <p:cNvPr id="7" name="Resim 6" descr="diyagram, çizgi, öykü gelişim çizgisi; kumpas; grafiğini çıkarma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C556B4F-F897-DBD3-7F64-463E5413D1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37" y="1943100"/>
            <a:ext cx="7006516" cy="410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50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52600"/>
            <a:ext cx="2133600" cy="3238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113" y="1943100"/>
            <a:ext cx="485775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413" y="205740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5433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8100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0767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1752600"/>
            <a:ext cx="2133600" cy="3238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1400" y="1943100"/>
            <a:ext cx="4572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5700" y="20574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35433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38100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40767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1752600"/>
            <a:ext cx="2133600" cy="3238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1688" y="1943100"/>
            <a:ext cx="428625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5988" y="20574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700" y="35433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700" y="40005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700" y="4457700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1752600"/>
            <a:ext cx="2133600" cy="3238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1975" y="1943100"/>
            <a:ext cx="40005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6275" y="2057400"/>
            <a:ext cx="17145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35433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3810000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4267200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01200" y="1752600"/>
            <a:ext cx="2133600" cy="3238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25113" y="1943100"/>
            <a:ext cx="485775" cy="533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39413" y="2057400"/>
            <a:ext cx="257175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1700" y="3543300"/>
            <a:ext cx="13335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1700" y="3810000"/>
            <a:ext cx="13335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1700" y="4076700"/>
            <a:ext cx="133350" cy="1333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5295900"/>
            <a:ext cx="11277600" cy="533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01068" y="5476875"/>
            <a:ext cx="1143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Insights - Customer Personas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-67056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identified five distinct customer segments with unique spending behaviors and characteristics</a:t>
            </a:r>
            <a:endParaRPr lang="en-US" sz="1350" dirty="0"/>
          </a:p>
        </p:txBody>
      </p:sp>
      <p:sp>
        <p:nvSpPr>
          <p:cNvPr id="39" name="Text 2"/>
          <p:cNvSpPr/>
          <p:nvPr/>
        </p:nvSpPr>
        <p:spPr>
          <a:xfrm>
            <a:off x="647700" y="2590800"/>
            <a:ext cx="175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VIPs</a:t>
            </a:r>
            <a:endParaRPr lang="en-US" sz="1500" dirty="0"/>
          </a:p>
        </p:txBody>
      </p:sp>
      <p:sp>
        <p:nvSpPr>
          <p:cNvPr id="40" name="Text 3"/>
          <p:cNvSpPr/>
          <p:nvPr/>
        </p:nvSpPr>
        <p:spPr>
          <a:xfrm>
            <a:off x="647700" y="2933700"/>
            <a:ext cx="1752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(High Income, High Spend)</a:t>
            </a:r>
            <a:endParaRPr lang="en-US" sz="1200" dirty="0"/>
          </a:p>
        </p:txBody>
      </p:sp>
      <p:sp>
        <p:nvSpPr>
          <p:cNvPr id="41" name="Text 4"/>
          <p:cNvSpPr/>
          <p:nvPr/>
        </p:nvSpPr>
        <p:spPr>
          <a:xfrm>
            <a:off x="857250" y="3505200"/>
            <a:ext cx="162984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Most valuable group</a:t>
            </a:r>
            <a:endParaRPr lang="en-US" sz="1050" dirty="0"/>
          </a:p>
        </p:txBody>
      </p:sp>
      <p:sp>
        <p:nvSpPr>
          <p:cNvPr id="42" name="Text 5"/>
          <p:cNvSpPr/>
          <p:nvPr/>
        </p:nvSpPr>
        <p:spPr>
          <a:xfrm>
            <a:off x="857250" y="3771900"/>
            <a:ext cx="18477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High purchasing power</a:t>
            </a:r>
            <a:endParaRPr lang="en-US" sz="1050" dirty="0"/>
          </a:p>
        </p:txBody>
      </p:sp>
      <p:sp>
        <p:nvSpPr>
          <p:cNvPr id="43" name="Text 6"/>
          <p:cNvSpPr/>
          <p:nvPr/>
        </p:nvSpPr>
        <p:spPr>
          <a:xfrm>
            <a:off x="857250" y="40386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Loyal and consistent spenders</a:t>
            </a:r>
            <a:endParaRPr lang="en-US" sz="1050" dirty="0"/>
          </a:p>
        </p:txBody>
      </p:sp>
      <p:sp>
        <p:nvSpPr>
          <p:cNvPr id="44" name="Text 7"/>
          <p:cNvSpPr/>
          <p:nvPr/>
        </p:nvSpPr>
        <p:spPr>
          <a:xfrm>
            <a:off x="2758440" y="2590800"/>
            <a:ext cx="210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Potentials</a:t>
            </a:r>
            <a:endParaRPr lang="en-US" sz="1500" dirty="0"/>
          </a:p>
        </p:txBody>
      </p:sp>
      <p:sp>
        <p:nvSpPr>
          <p:cNvPr id="45" name="Text 8"/>
          <p:cNvSpPr/>
          <p:nvPr/>
        </p:nvSpPr>
        <p:spPr>
          <a:xfrm>
            <a:off x="2933700" y="2933700"/>
            <a:ext cx="1752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(High Income, Low Spend)</a:t>
            </a:r>
            <a:endParaRPr lang="en-US" sz="1200" dirty="0"/>
          </a:p>
        </p:txBody>
      </p:sp>
      <p:sp>
        <p:nvSpPr>
          <p:cNvPr id="46" name="Text 9"/>
          <p:cNvSpPr/>
          <p:nvPr/>
        </p:nvSpPr>
        <p:spPr>
          <a:xfrm>
            <a:off x="3143250" y="3505200"/>
            <a:ext cx="18477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High purchasing power</a:t>
            </a:r>
            <a:endParaRPr lang="en-US" sz="1050" dirty="0"/>
          </a:p>
        </p:txBody>
      </p:sp>
      <p:sp>
        <p:nvSpPr>
          <p:cNvPr id="47" name="Text 10"/>
          <p:cNvSpPr/>
          <p:nvPr/>
        </p:nvSpPr>
        <p:spPr>
          <a:xfrm>
            <a:off x="3143250" y="3771900"/>
            <a:ext cx="13841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Low engagement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3143250" y="40386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"Missed opportunity" group</a:t>
            </a:r>
            <a:endParaRPr lang="en-US" sz="1050" dirty="0"/>
          </a:p>
        </p:txBody>
      </p:sp>
      <p:sp>
        <p:nvSpPr>
          <p:cNvPr id="49" name="Text 12"/>
          <p:cNvSpPr/>
          <p:nvPr/>
        </p:nvSpPr>
        <p:spPr>
          <a:xfrm>
            <a:off x="5044440" y="2590800"/>
            <a:ext cx="210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Standard</a:t>
            </a:r>
            <a:endParaRPr lang="en-US" sz="1500" dirty="0"/>
          </a:p>
        </p:txBody>
      </p:sp>
      <p:sp>
        <p:nvSpPr>
          <p:cNvPr id="50" name="Text 13"/>
          <p:cNvSpPr/>
          <p:nvPr/>
        </p:nvSpPr>
        <p:spPr>
          <a:xfrm>
            <a:off x="5219700" y="2933700"/>
            <a:ext cx="1752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(Mid Income, Mid Spend)</a:t>
            </a:r>
            <a:endParaRPr lang="en-US" sz="1200" dirty="0"/>
          </a:p>
        </p:txBody>
      </p:sp>
      <p:sp>
        <p:nvSpPr>
          <p:cNvPr id="51" name="Text 14"/>
          <p:cNvSpPr/>
          <p:nvPr/>
        </p:nvSpPr>
        <p:spPr>
          <a:xfrm>
            <a:off x="5429250" y="35052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Reliable average customer</a:t>
            </a:r>
            <a:endParaRPr lang="en-US" sz="1050" dirty="0"/>
          </a:p>
        </p:txBody>
      </p:sp>
      <p:sp>
        <p:nvSpPr>
          <p:cNvPr id="52" name="Text 15"/>
          <p:cNvSpPr/>
          <p:nvPr/>
        </p:nvSpPr>
        <p:spPr>
          <a:xfrm>
            <a:off x="5429250" y="39624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Forms bulk of mall traffic</a:t>
            </a:r>
            <a:endParaRPr lang="en-US" sz="1050" dirty="0"/>
          </a:p>
        </p:txBody>
      </p:sp>
      <p:sp>
        <p:nvSpPr>
          <p:cNvPr id="53" name="Text 16"/>
          <p:cNvSpPr/>
          <p:nvPr/>
        </p:nvSpPr>
        <p:spPr>
          <a:xfrm>
            <a:off x="5429250" y="44196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Price sensitive but regular</a:t>
            </a:r>
            <a:endParaRPr lang="en-US" sz="1050" dirty="0"/>
          </a:p>
        </p:txBody>
      </p:sp>
      <p:sp>
        <p:nvSpPr>
          <p:cNvPr id="54" name="Text 17"/>
          <p:cNvSpPr/>
          <p:nvPr/>
        </p:nvSpPr>
        <p:spPr>
          <a:xfrm>
            <a:off x="7330440" y="2590800"/>
            <a:ext cx="210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Impulsive</a:t>
            </a:r>
            <a:endParaRPr lang="en-US" sz="1500" dirty="0"/>
          </a:p>
        </p:txBody>
      </p:sp>
      <p:sp>
        <p:nvSpPr>
          <p:cNvPr id="55" name="Text 18"/>
          <p:cNvSpPr/>
          <p:nvPr/>
        </p:nvSpPr>
        <p:spPr>
          <a:xfrm>
            <a:off x="7505700" y="2933700"/>
            <a:ext cx="1752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(Low Income, High Spend)</a:t>
            </a:r>
            <a:endParaRPr lang="en-US" sz="1200" dirty="0"/>
          </a:p>
        </p:txBody>
      </p:sp>
      <p:sp>
        <p:nvSpPr>
          <p:cNvPr id="56" name="Text 19"/>
          <p:cNvSpPr/>
          <p:nvPr/>
        </p:nvSpPr>
        <p:spPr>
          <a:xfrm>
            <a:off x="7715250" y="3505200"/>
            <a:ext cx="17659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Young or credit-driven</a:t>
            </a:r>
            <a:endParaRPr lang="en-US" sz="1050" dirty="0"/>
          </a:p>
        </p:txBody>
      </p:sp>
      <p:sp>
        <p:nvSpPr>
          <p:cNvPr id="57" name="Text 20"/>
          <p:cNvSpPr/>
          <p:nvPr/>
        </p:nvSpPr>
        <p:spPr>
          <a:xfrm>
            <a:off x="7715250" y="37719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Heavy spending despite income</a:t>
            </a:r>
            <a:endParaRPr lang="en-US" sz="1050" dirty="0"/>
          </a:p>
        </p:txBody>
      </p:sp>
      <p:sp>
        <p:nvSpPr>
          <p:cNvPr id="58" name="Text 21"/>
          <p:cNvSpPr/>
          <p:nvPr/>
        </p:nvSpPr>
        <p:spPr>
          <a:xfrm>
            <a:off x="7715250" y="42291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Emotionally driven purchases</a:t>
            </a:r>
            <a:endParaRPr lang="en-US" sz="1050" dirty="0"/>
          </a:p>
        </p:txBody>
      </p:sp>
      <p:sp>
        <p:nvSpPr>
          <p:cNvPr id="59" name="Text 22"/>
          <p:cNvSpPr/>
          <p:nvPr/>
        </p:nvSpPr>
        <p:spPr>
          <a:xfrm>
            <a:off x="9791700" y="2590800"/>
            <a:ext cx="175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Savers</a:t>
            </a:r>
            <a:endParaRPr lang="en-US" sz="1500" dirty="0"/>
          </a:p>
        </p:txBody>
      </p:sp>
      <p:sp>
        <p:nvSpPr>
          <p:cNvPr id="60" name="Text 23"/>
          <p:cNvSpPr/>
          <p:nvPr/>
        </p:nvSpPr>
        <p:spPr>
          <a:xfrm>
            <a:off x="9791700" y="2933700"/>
            <a:ext cx="1752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(Low Income, Low Spend)</a:t>
            </a:r>
            <a:endParaRPr lang="en-US" sz="1200" dirty="0"/>
          </a:p>
        </p:txBody>
      </p:sp>
      <p:sp>
        <p:nvSpPr>
          <p:cNvPr id="61" name="Text 24"/>
          <p:cNvSpPr/>
          <p:nvPr/>
        </p:nvSpPr>
        <p:spPr>
          <a:xfrm>
            <a:off x="10001250" y="3505200"/>
            <a:ext cx="14860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Cautious spenders</a:t>
            </a:r>
            <a:endParaRPr lang="en-US" sz="1050" dirty="0"/>
          </a:p>
        </p:txBody>
      </p:sp>
      <p:sp>
        <p:nvSpPr>
          <p:cNvPr id="62" name="Text 25"/>
          <p:cNvSpPr/>
          <p:nvPr/>
        </p:nvSpPr>
        <p:spPr>
          <a:xfrm>
            <a:off x="10001250" y="3771900"/>
            <a:ext cx="145000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Stick to essentials</a:t>
            </a:r>
            <a:endParaRPr lang="en-US" sz="1050" dirty="0"/>
          </a:p>
        </p:txBody>
      </p:sp>
      <p:sp>
        <p:nvSpPr>
          <p:cNvPr id="63" name="Text 26"/>
          <p:cNvSpPr/>
          <p:nvPr/>
        </p:nvSpPr>
        <p:spPr>
          <a:xfrm>
            <a:off x="10001250" y="4038600"/>
            <a:ext cx="1543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Price and value conscious</a:t>
            </a:r>
            <a:endParaRPr lang="en-US" sz="1050" dirty="0"/>
          </a:p>
        </p:txBody>
      </p:sp>
      <p:sp>
        <p:nvSpPr>
          <p:cNvPr id="64" name="Text 27"/>
          <p:cNvSpPr/>
          <p:nvPr/>
        </p:nvSpPr>
        <p:spPr>
          <a:xfrm>
            <a:off x="-487680" y="54483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Key Insight: These personas represent distinct customer segments with unique value propositions and marketing needs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0949-BD39-FA2B-F091-CA2AB8D5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B5A832E-EEC6-30C3-9E04-59A1DD031B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71FBCF44-3184-7146-A3C2-2B0C5F058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7" name="Text 0">
            <a:extLst>
              <a:ext uri="{FF2B5EF4-FFF2-40B4-BE49-F238E27FC236}">
                <a16:creationId xmlns:a16="http://schemas.microsoft.com/office/drawing/2014/main" id="{2FC18A0B-3C8E-9F0E-A6E6-36D28FDC4C83}"/>
              </a:ext>
            </a:extLst>
          </p:cNvPr>
          <p:cNvSpPr/>
          <p:nvPr/>
        </p:nvSpPr>
        <p:spPr>
          <a:xfrm>
            <a:off x="457200" y="3048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Insights - Customer Personas Heat Map Analysis</a:t>
            </a:r>
            <a:endParaRPr lang="en-US" sz="2700" dirty="0"/>
          </a:p>
        </p:txBody>
      </p:sp>
      <p:pic>
        <p:nvPicPr>
          <p:cNvPr id="66" name="Resim 65" descr="ekran görüntüsü, metin, kare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37EF5C4-4212-4179-6E51-FC6C0E3148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00" r="13750"/>
          <a:stretch>
            <a:fillRect/>
          </a:stretch>
        </p:blipFill>
        <p:spPr>
          <a:xfrm>
            <a:off x="457200" y="1761529"/>
            <a:ext cx="5980176" cy="3657600"/>
          </a:xfrm>
          <a:prstGeom prst="rect">
            <a:avLst/>
          </a:prstGeom>
        </p:spPr>
      </p:pic>
      <p:pic>
        <p:nvPicPr>
          <p:cNvPr id="71" name="Image 4" descr="preencoded.png">
            <a:extLst>
              <a:ext uri="{FF2B5EF4-FFF2-40B4-BE49-F238E27FC236}">
                <a16:creationId xmlns:a16="http://schemas.microsoft.com/office/drawing/2014/main" id="{E97E733C-A65B-9B96-735A-465864FA0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455" y="838200"/>
            <a:ext cx="5334000" cy="5867400"/>
          </a:xfrm>
          <a:prstGeom prst="rect">
            <a:avLst/>
          </a:prstGeom>
        </p:spPr>
      </p:pic>
      <p:sp>
        <p:nvSpPr>
          <p:cNvPr id="69" name="Rectangle 2">
            <a:extLst>
              <a:ext uri="{FF2B5EF4-FFF2-40B4-BE49-F238E27FC236}">
                <a16:creationId xmlns:a16="http://schemas.microsoft.com/office/drawing/2014/main" id="{E406163F-1947-AC1F-D5D1-F479D28CE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079" y="838200"/>
            <a:ext cx="525475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VIPs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- [High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, High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Age: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~32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Annual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$86,000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Highest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Spending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82/100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9549A032-2D54-1621-413C-2847D9C44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079" y="1977509"/>
            <a:ext cx="7125281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Potentials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- [High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Low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Age: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~41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Annual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$88,000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Spending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17/100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Impulsive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- [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Low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, High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Age: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~25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Youngest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Annual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$25,000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Spending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79/100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600" b="1" dirty="0" err="1">
                <a:solidFill>
                  <a:schemeClr val="accent1">
                    <a:lumMod val="50000"/>
                  </a:schemeClr>
                </a:solidFill>
              </a:rPr>
              <a:t>Savers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- [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Low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Low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Age: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~45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Annual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$26,000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Spending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20/100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(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Standard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) - [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Medium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Medium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Average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Age: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~42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Annual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Income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$55,000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Spending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Score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rPr>
              <a:t> 50/100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4555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2163961" cy="449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57300"/>
            <a:ext cx="32385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62075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03835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3050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5717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283845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7361" y="1104900"/>
            <a:ext cx="2164110" cy="4495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9761" y="1257300"/>
            <a:ext cx="3048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5961" y="13620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9761" y="2038350"/>
            <a:ext cx="1714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49761" y="2305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9761" y="25717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49761" y="28384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3871" y="1104900"/>
            <a:ext cx="2164110" cy="449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66271" y="1257300"/>
            <a:ext cx="28575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42471" y="1362075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271" y="21336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6271" y="249555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66271" y="27622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66271" y="31242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30380" y="1104900"/>
            <a:ext cx="2164110" cy="449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82780" y="1257300"/>
            <a:ext cx="2667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8980" y="1362075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82780" y="2038350"/>
            <a:ext cx="1714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82780" y="2305050"/>
            <a:ext cx="1714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82780" y="2571750"/>
            <a:ext cx="123825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82780" y="2838450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46890" y="1104900"/>
            <a:ext cx="2163961" cy="4495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799290" y="1257300"/>
            <a:ext cx="32385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75490" y="1362075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99290" y="2038350"/>
            <a:ext cx="1714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99290" y="2305050"/>
            <a:ext cx="17145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99290" y="257175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99290" y="283845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81000" y="6019800"/>
            <a:ext cx="11430000" cy="4572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913186" y="6162675"/>
            <a:ext cx="114300" cy="1524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Insights - Persona Characteristics</a:t>
            </a:r>
            <a:endParaRPr lang="en-US" sz="2700" dirty="0"/>
          </a:p>
        </p:txBody>
      </p:sp>
      <p:sp>
        <p:nvSpPr>
          <p:cNvPr id="43" name="Text 1"/>
          <p:cNvSpPr/>
          <p:nvPr/>
        </p:nvSpPr>
        <p:spPr>
          <a:xfrm>
            <a:off x="933450" y="1314450"/>
            <a:ext cx="5054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VIPs</a:t>
            </a:r>
            <a:endParaRPr lang="en-US" sz="1350" dirty="0"/>
          </a:p>
        </p:txBody>
      </p:sp>
      <p:sp>
        <p:nvSpPr>
          <p:cNvPr id="44" name="Text 2"/>
          <p:cNvSpPr/>
          <p:nvPr/>
        </p:nvSpPr>
        <p:spPr>
          <a:xfrm>
            <a:off x="533400" y="1752600"/>
            <a:ext cx="223099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High Income, High Spend</a:t>
            </a:r>
            <a:endParaRPr lang="en-US" sz="1050" dirty="0"/>
          </a:p>
        </p:txBody>
      </p:sp>
      <p:sp>
        <p:nvSpPr>
          <p:cNvPr id="45" name="Text 3"/>
          <p:cNvSpPr/>
          <p:nvPr/>
        </p:nvSpPr>
        <p:spPr>
          <a:xfrm>
            <a:off x="781050" y="2019300"/>
            <a:ext cx="18477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High purchasing power</a:t>
            </a:r>
            <a:endParaRPr lang="en-US" sz="1050" dirty="0"/>
          </a:p>
        </p:txBody>
      </p:sp>
      <p:sp>
        <p:nvSpPr>
          <p:cNvPr id="46" name="Text 4"/>
          <p:cNvSpPr/>
          <p:nvPr/>
        </p:nvSpPr>
        <p:spPr>
          <a:xfrm>
            <a:off x="762000" y="2286000"/>
            <a:ext cx="12064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Loyal spenders</a:t>
            </a:r>
            <a:endParaRPr lang="en-US" sz="1050" dirty="0"/>
          </a:p>
        </p:txBody>
      </p:sp>
      <p:sp>
        <p:nvSpPr>
          <p:cNvPr id="47" name="Text 5"/>
          <p:cNvSpPr/>
          <p:nvPr/>
        </p:nvSpPr>
        <p:spPr>
          <a:xfrm>
            <a:off x="762000" y="2552700"/>
            <a:ext cx="137785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Premium seekers</a:t>
            </a:r>
            <a:endParaRPr lang="en-US" sz="1050" dirty="0"/>
          </a:p>
        </p:txBody>
      </p:sp>
      <p:sp>
        <p:nvSpPr>
          <p:cNvPr id="48" name="Text 6"/>
          <p:cNvSpPr/>
          <p:nvPr/>
        </p:nvSpPr>
        <p:spPr>
          <a:xfrm>
            <a:off x="742950" y="2819400"/>
            <a:ext cx="135034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Brand advocates</a:t>
            </a:r>
            <a:endParaRPr lang="en-US" sz="1050" dirty="0"/>
          </a:p>
        </p:txBody>
      </p:sp>
      <p:sp>
        <p:nvSpPr>
          <p:cNvPr id="49" name="Text 7"/>
          <p:cNvSpPr/>
          <p:nvPr/>
        </p:nvSpPr>
        <p:spPr>
          <a:xfrm>
            <a:off x="3230761" y="1314450"/>
            <a:ext cx="11772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Potentials</a:t>
            </a:r>
            <a:endParaRPr lang="en-US" sz="1350" dirty="0"/>
          </a:p>
        </p:txBody>
      </p:sp>
      <p:sp>
        <p:nvSpPr>
          <p:cNvPr id="50" name="Text 8"/>
          <p:cNvSpPr/>
          <p:nvPr/>
        </p:nvSpPr>
        <p:spPr>
          <a:xfrm>
            <a:off x="2849761" y="1752600"/>
            <a:ext cx="22311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High Income, Low Spend</a:t>
            </a:r>
            <a:endParaRPr lang="en-US" sz="1050" dirty="0"/>
          </a:p>
        </p:txBody>
      </p:sp>
      <p:sp>
        <p:nvSpPr>
          <p:cNvPr id="51" name="Text 9"/>
          <p:cNvSpPr/>
          <p:nvPr/>
        </p:nvSpPr>
        <p:spPr>
          <a:xfrm>
            <a:off x="3097411" y="2019300"/>
            <a:ext cx="18477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High purchasing power</a:t>
            </a:r>
            <a:endParaRPr lang="en-US" sz="1050" dirty="0"/>
          </a:p>
        </p:txBody>
      </p:sp>
      <p:sp>
        <p:nvSpPr>
          <p:cNvPr id="52" name="Text 10"/>
          <p:cNvSpPr/>
          <p:nvPr/>
        </p:nvSpPr>
        <p:spPr>
          <a:xfrm>
            <a:off x="3078361" y="2286000"/>
            <a:ext cx="13841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Low engagement</a:t>
            </a:r>
            <a:endParaRPr lang="en-US" sz="1050" dirty="0"/>
          </a:p>
        </p:txBody>
      </p:sp>
      <p:sp>
        <p:nvSpPr>
          <p:cNvPr id="53" name="Text 11"/>
          <p:cNvSpPr/>
          <p:nvPr/>
        </p:nvSpPr>
        <p:spPr>
          <a:xfrm>
            <a:off x="3078361" y="2552700"/>
            <a:ext cx="153251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Missed opportunity</a:t>
            </a:r>
            <a:endParaRPr lang="en-US" sz="1050" dirty="0"/>
          </a:p>
        </p:txBody>
      </p:sp>
      <p:sp>
        <p:nvSpPr>
          <p:cNvPr id="54" name="Text 12"/>
          <p:cNvSpPr/>
          <p:nvPr/>
        </p:nvSpPr>
        <p:spPr>
          <a:xfrm>
            <a:off x="3078361" y="2819400"/>
            <a:ext cx="1929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Quality &amp; prestige focus</a:t>
            </a:r>
            <a:endParaRPr lang="en-US" sz="1050" dirty="0"/>
          </a:p>
        </p:txBody>
      </p:sp>
      <p:sp>
        <p:nvSpPr>
          <p:cNvPr id="55" name="Text 13"/>
          <p:cNvSpPr/>
          <p:nvPr/>
        </p:nvSpPr>
        <p:spPr>
          <a:xfrm>
            <a:off x="5528221" y="1314450"/>
            <a:ext cx="1066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Standard</a:t>
            </a:r>
            <a:endParaRPr lang="en-US" sz="1350" dirty="0"/>
          </a:p>
        </p:txBody>
      </p:sp>
      <p:sp>
        <p:nvSpPr>
          <p:cNvPr id="56" name="Text 14"/>
          <p:cNvSpPr/>
          <p:nvPr/>
        </p:nvSpPr>
        <p:spPr>
          <a:xfrm>
            <a:off x="5166271" y="1752600"/>
            <a:ext cx="22311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Mid Income, Mid Spend</a:t>
            </a:r>
            <a:endParaRPr lang="en-US" sz="1050" dirty="0"/>
          </a:p>
        </p:txBody>
      </p:sp>
      <p:sp>
        <p:nvSpPr>
          <p:cNvPr id="57" name="Text 15"/>
          <p:cNvSpPr/>
          <p:nvPr/>
        </p:nvSpPr>
        <p:spPr>
          <a:xfrm>
            <a:off x="5413921" y="2019300"/>
            <a:ext cx="16116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Reliable average customer</a:t>
            </a:r>
            <a:endParaRPr lang="en-US" sz="1050" dirty="0"/>
          </a:p>
        </p:txBody>
      </p:sp>
      <p:sp>
        <p:nvSpPr>
          <p:cNvPr id="58" name="Text 16"/>
          <p:cNvSpPr/>
          <p:nvPr/>
        </p:nvSpPr>
        <p:spPr>
          <a:xfrm>
            <a:off x="5432971" y="2476500"/>
            <a:ext cx="1602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Forms bulk of traffic</a:t>
            </a:r>
            <a:endParaRPr lang="en-US" sz="1050" dirty="0"/>
          </a:p>
        </p:txBody>
      </p:sp>
      <p:sp>
        <p:nvSpPr>
          <p:cNvPr id="59" name="Text 17"/>
          <p:cNvSpPr/>
          <p:nvPr/>
        </p:nvSpPr>
        <p:spPr>
          <a:xfrm>
            <a:off x="5394871" y="2743200"/>
            <a:ext cx="10153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Brand aware</a:t>
            </a:r>
            <a:endParaRPr lang="en-US" sz="1050" dirty="0"/>
          </a:p>
        </p:txBody>
      </p:sp>
      <p:sp>
        <p:nvSpPr>
          <p:cNvPr id="60" name="Text 18"/>
          <p:cNvSpPr/>
          <p:nvPr/>
        </p:nvSpPr>
        <p:spPr>
          <a:xfrm>
            <a:off x="5394871" y="3009900"/>
            <a:ext cx="16307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General campaigns work</a:t>
            </a:r>
            <a:endParaRPr lang="en-US" sz="1050" dirty="0"/>
          </a:p>
        </p:txBody>
      </p:sp>
      <p:sp>
        <p:nvSpPr>
          <p:cNvPr id="61" name="Text 19"/>
          <p:cNvSpPr/>
          <p:nvPr/>
        </p:nvSpPr>
        <p:spPr>
          <a:xfrm>
            <a:off x="7825680" y="1314450"/>
            <a:ext cx="11219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Impulsive</a:t>
            </a:r>
            <a:endParaRPr lang="en-US" sz="1350" dirty="0"/>
          </a:p>
        </p:txBody>
      </p:sp>
      <p:sp>
        <p:nvSpPr>
          <p:cNvPr id="62" name="Text 20"/>
          <p:cNvSpPr/>
          <p:nvPr/>
        </p:nvSpPr>
        <p:spPr>
          <a:xfrm>
            <a:off x="7482780" y="1752600"/>
            <a:ext cx="22311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Low Income, High Spend</a:t>
            </a:r>
            <a:endParaRPr lang="en-US" sz="1050" dirty="0"/>
          </a:p>
        </p:txBody>
      </p:sp>
      <p:sp>
        <p:nvSpPr>
          <p:cNvPr id="63" name="Text 21"/>
          <p:cNvSpPr/>
          <p:nvPr/>
        </p:nvSpPr>
        <p:spPr>
          <a:xfrm>
            <a:off x="7730430" y="2019300"/>
            <a:ext cx="17659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Young or credit-driven</a:t>
            </a:r>
            <a:endParaRPr lang="en-US" sz="1050" dirty="0"/>
          </a:p>
        </p:txBody>
      </p:sp>
      <p:sp>
        <p:nvSpPr>
          <p:cNvPr id="64" name="Text 22"/>
          <p:cNvSpPr/>
          <p:nvPr/>
        </p:nvSpPr>
        <p:spPr>
          <a:xfrm>
            <a:off x="7730430" y="2286000"/>
            <a:ext cx="1207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Heavy spender</a:t>
            </a:r>
            <a:endParaRPr lang="en-US" sz="1050" dirty="0"/>
          </a:p>
        </p:txBody>
      </p:sp>
      <p:sp>
        <p:nvSpPr>
          <p:cNvPr id="65" name="Text 23"/>
          <p:cNvSpPr/>
          <p:nvPr/>
        </p:nvSpPr>
        <p:spPr>
          <a:xfrm>
            <a:off x="7682805" y="2552700"/>
            <a:ext cx="11308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Sales-reactive</a:t>
            </a:r>
            <a:endParaRPr lang="en-US" sz="1050" dirty="0"/>
          </a:p>
        </p:txBody>
      </p:sp>
      <p:sp>
        <p:nvSpPr>
          <p:cNvPr id="66" name="Text 24"/>
          <p:cNvSpPr/>
          <p:nvPr/>
        </p:nvSpPr>
        <p:spPr>
          <a:xfrm>
            <a:off x="7673280" y="2819400"/>
            <a:ext cx="17848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App notifications work</a:t>
            </a:r>
            <a:endParaRPr lang="en-US" sz="1050" dirty="0"/>
          </a:p>
        </p:txBody>
      </p:sp>
      <p:sp>
        <p:nvSpPr>
          <p:cNvPr id="67" name="Text 25"/>
          <p:cNvSpPr/>
          <p:nvPr/>
        </p:nvSpPr>
        <p:spPr>
          <a:xfrm>
            <a:off x="10199340" y="1314450"/>
            <a:ext cx="7847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Savers</a:t>
            </a:r>
            <a:endParaRPr lang="en-US" sz="1350" dirty="0"/>
          </a:p>
        </p:txBody>
      </p:sp>
      <p:sp>
        <p:nvSpPr>
          <p:cNvPr id="68" name="Text 26"/>
          <p:cNvSpPr/>
          <p:nvPr/>
        </p:nvSpPr>
        <p:spPr>
          <a:xfrm>
            <a:off x="9799290" y="1752600"/>
            <a:ext cx="223099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Low Income, Low Spend</a:t>
            </a:r>
            <a:endParaRPr lang="en-US" sz="1050" dirty="0"/>
          </a:p>
        </p:txBody>
      </p:sp>
      <p:sp>
        <p:nvSpPr>
          <p:cNvPr id="69" name="Text 27"/>
          <p:cNvSpPr/>
          <p:nvPr/>
        </p:nvSpPr>
        <p:spPr>
          <a:xfrm>
            <a:off x="10046940" y="2019300"/>
            <a:ext cx="14860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Cautious spenders</a:t>
            </a:r>
            <a:endParaRPr lang="en-US" sz="1050" dirty="0"/>
          </a:p>
        </p:txBody>
      </p:sp>
      <p:sp>
        <p:nvSpPr>
          <p:cNvPr id="70" name="Text 28"/>
          <p:cNvSpPr/>
          <p:nvPr/>
        </p:nvSpPr>
        <p:spPr>
          <a:xfrm>
            <a:off x="10046940" y="2286000"/>
            <a:ext cx="15017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Essential shoppers</a:t>
            </a:r>
            <a:endParaRPr lang="en-US" sz="1050" dirty="0"/>
          </a:p>
        </p:txBody>
      </p:sp>
      <p:sp>
        <p:nvSpPr>
          <p:cNvPr id="71" name="Text 29"/>
          <p:cNvSpPr/>
          <p:nvPr/>
        </p:nvSpPr>
        <p:spPr>
          <a:xfrm>
            <a:off x="10027890" y="2552700"/>
            <a:ext cx="14123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Budget conscious</a:t>
            </a:r>
            <a:endParaRPr lang="en-US" sz="1050" dirty="0"/>
          </a:p>
        </p:txBody>
      </p:sp>
      <p:sp>
        <p:nvSpPr>
          <p:cNvPr id="72" name="Text 30"/>
          <p:cNvSpPr/>
          <p:nvPr/>
        </p:nvSpPr>
        <p:spPr>
          <a:xfrm>
            <a:off x="10027890" y="2819400"/>
            <a:ext cx="112424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ea typeface="ui-sans-serif" pitchFamily="34" charset="-122"/>
                <a:cs typeface="ui-sans-serif" pitchFamily="34" charset="-120"/>
              </a:rPr>
              <a:t>Value-focused</a:t>
            </a:r>
            <a:endParaRPr lang="en-US" sz="1050" dirty="0"/>
          </a:p>
        </p:txBody>
      </p:sp>
      <p:sp>
        <p:nvSpPr>
          <p:cNvPr id="73" name="Text 31"/>
          <p:cNvSpPr/>
          <p:nvPr/>
        </p:nvSpPr>
        <p:spPr>
          <a:xfrm>
            <a:off x="-624840" y="6134100"/>
            <a:ext cx="1344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These personas reveal distinct spending behaviors that can be targeted with specific marketing strategies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38300"/>
            <a:ext cx="5422900" cy="1676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828800"/>
            <a:ext cx="447675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4310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25" y="5100001"/>
            <a:ext cx="5416747" cy="156299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4" y="5207000"/>
            <a:ext cx="419100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187" y="53340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26" y="3467100"/>
            <a:ext cx="5416747" cy="14862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548743"/>
            <a:ext cx="371475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477" y="3676650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636118"/>
            <a:ext cx="5524500" cy="1663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9210" y="1766790"/>
            <a:ext cx="400050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3510" y="1868794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5956300"/>
            <a:ext cx="57658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2131" y="6127750"/>
            <a:ext cx="1143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Deployment - Actionable Marketing Strategies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181100"/>
            <a:ext cx="13533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Targeted strategies for each customer segment to optimize marketing spend and improve business outcomes: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>
          <a:xfrm>
            <a:off x="1209675" y="1943100"/>
            <a:ext cx="20107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VIPs 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209675" y="2257893"/>
            <a:ext cx="453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Retention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209675" y="250648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Deploy exclusive loyalty programs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209054" y="271603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Offer VIP concierge services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209054" y="2944586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Provide personalized shopping experiences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1219200" y="5258922"/>
            <a:ext cx="27573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Potentials 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1219200" y="5499100"/>
            <a:ext cx="453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Acquisition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219200" y="571500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Launch campaigns focused on "Quality" and "Prestige"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1219200" y="594360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Highlight premium offerings and services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215751" y="617220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Convert high income into mall spending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1209054" y="3630386"/>
            <a:ext cx="26956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Impulsive 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1209054" y="3899362"/>
            <a:ext cx="453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Conversion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1219200" y="4114454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Target with limited-time discount notifications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1219200" y="4356562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Use mobile app for timely offers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1219200" y="4574969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Create urgency with time-sensitive promotions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948170" y="1856556"/>
            <a:ext cx="26344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Standard 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6948170" y="2053868"/>
            <a:ext cx="453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Maintenance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6948170" y="2272737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Keep engaged with general brand awareness campaigns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6948170" y="247650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Provide regular updates on new arrivals</a:t>
            </a:r>
            <a:endParaRPr lang="en-US" sz="1200" dirty="0"/>
          </a:p>
        </p:txBody>
      </p:sp>
      <p:sp>
        <p:nvSpPr>
          <p:cNvPr id="40" name="Text 21"/>
          <p:cNvSpPr/>
          <p:nvPr/>
        </p:nvSpPr>
        <p:spPr>
          <a:xfrm>
            <a:off x="6947549" y="2654300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Maintain consistent communication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6069832" y="6070600"/>
            <a:ext cx="61221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Personalized strategies based on customer behavior, not just demographics</a:t>
            </a:r>
            <a:endParaRPr lang="en-US" sz="1200" dirty="0"/>
          </a:p>
        </p:txBody>
      </p:sp>
      <p:pic>
        <p:nvPicPr>
          <p:cNvPr id="3" name="Image 12" descr="preencoded.png">
            <a:extLst>
              <a:ext uri="{FF2B5EF4-FFF2-40B4-BE49-F238E27FC236}">
                <a16:creationId xmlns:a16="http://schemas.microsoft.com/office/drawing/2014/main" id="{5944F903-72EC-3178-A41E-1E9C68576A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401418"/>
            <a:ext cx="5524500" cy="1990144"/>
          </a:xfrm>
          <a:prstGeom prst="rect">
            <a:avLst/>
          </a:prstGeom>
        </p:spPr>
      </p:pic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34C4C35F-AAE6-553A-5BEF-7B5594763F8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9210" y="3543570"/>
            <a:ext cx="400050" cy="495300"/>
          </a:xfrm>
          <a:prstGeom prst="rect">
            <a:avLst/>
          </a:prstGeom>
        </p:spPr>
      </p:pic>
      <p:pic>
        <p:nvPicPr>
          <p:cNvPr id="45" name="Image 14" descr="preencoded.png">
            <a:extLst>
              <a:ext uri="{FF2B5EF4-FFF2-40B4-BE49-F238E27FC236}">
                <a16:creationId xmlns:a16="http://schemas.microsoft.com/office/drawing/2014/main" id="{DCF74BE2-4450-2C28-5227-5324204527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3510" y="3659148"/>
            <a:ext cx="171450" cy="266700"/>
          </a:xfrm>
          <a:prstGeom prst="rect">
            <a:avLst/>
          </a:prstGeom>
        </p:spPr>
      </p:pic>
      <p:sp>
        <p:nvSpPr>
          <p:cNvPr id="46" name="Text 17">
            <a:extLst>
              <a:ext uri="{FF2B5EF4-FFF2-40B4-BE49-F238E27FC236}">
                <a16:creationId xmlns:a16="http://schemas.microsoft.com/office/drawing/2014/main" id="{20C3154D-994C-C7A0-411E-654BDC1EE14F}"/>
              </a:ext>
            </a:extLst>
          </p:cNvPr>
          <p:cNvSpPr/>
          <p:nvPr/>
        </p:nvSpPr>
        <p:spPr>
          <a:xfrm>
            <a:off x="6976504" y="3659148"/>
            <a:ext cx="26344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Savers </a:t>
            </a:r>
            <a:endParaRPr lang="en-US" sz="15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B78206D6-091F-B601-D660-DAC75AA23CE6}"/>
              </a:ext>
            </a:extLst>
          </p:cNvPr>
          <p:cNvSpPr/>
          <p:nvPr/>
        </p:nvSpPr>
        <p:spPr>
          <a:xfrm>
            <a:off x="6990080" y="3868698"/>
            <a:ext cx="453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Inventory Clearence &amp; Basics</a:t>
            </a:r>
            <a:endParaRPr lang="en-US" sz="12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5BE0B18A-019A-CDA4-4579-6DF3DE854C10}"/>
              </a:ext>
            </a:extLst>
          </p:cNvPr>
          <p:cNvSpPr/>
          <p:nvPr/>
        </p:nvSpPr>
        <p:spPr>
          <a:xfrm>
            <a:off x="6976504" y="4114237"/>
            <a:ext cx="5440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FontTx/>
              <a:buChar char="•"/>
            </a:pP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Focused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on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discount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campaigns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7B383D18-1329-BC1D-F123-F09D908F5420}"/>
              </a:ext>
            </a:extLst>
          </p:cNvPr>
          <p:cNvSpPr/>
          <p:nvPr/>
        </p:nvSpPr>
        <p:spPr>
          <a:xfrm>
            <a:off x="6976504" y="4369494"/>
            <a:ext cx="4678673" cy="390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FontTx/>
              <a:buChar char="•"/>
            </a:pP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This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group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is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highly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price-sensitive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and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needs-driven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Focus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on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affordability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essential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products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and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aggressive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discounts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to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clear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old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tr-TR" sz="1200" dirty="0" err="1">
                <a:solidFill>
                  <a:schemeClr val="accent1">
                    <a:lumMod val="50000"/>
                  </a:schemeClr>
                </a:solidFill>
              </a:rPr>
              <a:t>inventory</a:t>
            </a:r>
            <a:r>
              <a:rPr lang="tr-TR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38300"/>
            <a:ext cx="5524500" cy="1600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828800"/>
            <a:ext cx="32385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933575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638300"/>
            <a:ext cx="5524500" cy="1600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8288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9335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" y="3359818"/>
            <a:ext cx="5524500" cy="14788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" y="3511216"/>
            <a:ext cx="2667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571" y="363855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359818"/>
            <a:ext cx="5524500" cy="147888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511216"/>
            <a:ext cx="28575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62969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5295900"/>
            <a:ext cx="55245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9526" y="5487520"/>
            <a:ext cx="1143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Deployment - Implementation Recommendations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181100"/>
            <a:ext cx="1127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Specific tactical approaches for each customer segment: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>
          <a:xfrm>
            <a:off x="1085850" y="1885950"/>
            <a:ext cx="20107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VIPs 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066800" y="23241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Retention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066800" y="259080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Deploy exclusive loyalty programs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066800" y="281940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Offer VIP concierge services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819900" y="1885950"/>
            <a:ext cx="27573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Potentials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6819900" y="23241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Acquisition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819900" y="259080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Focus on "Quality" and "Prestige"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819900" y="281940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Convert high income into mall spending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1028700" y="3581400"/>
            <a:ext cx="26956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Impulsive 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1028700" y="4016041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Conversion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1040130" y="424871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Target with limited-time discounts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1051560" y="4470705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Use mobile app for notifications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819900" y="3543300"/>
            <a:ext cx="26344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Standard 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6819900" y="401407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Maintenance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819900" y="4250869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General brand awareness campaigns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819900" y="4479469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Keep engaged with regular updates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6663381" y="5448300"/>
            <a:ext cx="457776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Personalized approaches yield better results than mass marketing</a:t>
            </a:r>
            <a:endParaRPr lang="en-US" sz="1200" dirty="0"/>
          </a:p>
        </p:txBody>
      </p:sp>
      <p:pic>
        <p:nvPicPr>
          <p:cNvPr id="3" name="Image 12" descr="preencoded.png">
            <a:extLst>
              <a:ext uri="{FF2B5EF4-FFF2-40B4-BE49-F238E27FC236}">
                <a16:creationId xmlns:a16="http://schemas.microsoft.com/office/drawing/2014/main" id="{81436511-8399-C700-32B1-F0FB73B231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" y="4988151"/>
            <a:ext cx="5524500" cy="1478882"/>
          </a:xfrm>
          <a:prstGeom prst="rect">
            <a:avLst/>
          </a:prstGeom>
        </p:spPr>
      </p:pic>
      <p:sp>
        <p:nvSpPr>
          <p:cNvPr id="39" name="Text 17">
            <a:extLst>
              <a:ext uri="{FF2B5EF4-FFF2-40B4-BE49-F238E27FC236}">
                <a16:creationId xmlns:a16="http://schemas.microsoft.com/office/drawing/2014/main" id="{C02C1AD0-54A9-02E0-D574-2E7AB5532283}"/>
              </a:ext>
            </a:extLst>
          </p:cNvPr>
          <p:cNvSpPr/>
          <p:nvPr/>
        </p:nvSpPr>
        <p:spPr>
          <a:xfrm>
            <a:off x="1028700" y="5171588"/>
            <a:ext cx="26344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Savers </a:t>
            </a:r>
            <a:endParaRPr lang="en-US" sz="1500" dirty="0"/>
          </a:p>
        </p:txBody>
      </p:sp>
      <p:pic>
        <p:nvPicPr>
          <p:cNvPr id="40" name="Image 13" descr="preencoded.png">
            <a:extLst>
              <a:ext uri="{FF2B5EF4-FFF2-40B4-BE49-F238E27FC236}">
                <a16:creationId xmlns:a16="http://schemas.microsoft.com/office/drawing/2014/main" id="{A3F190CF-7A7A-A2AD-EA79-E462A0014E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846" y="5124410"/>
            <a:ext cx="285750" cy="381000"/>
          </a:xfrm>
          <a:prstGeom prst="rect">
            <a:avLst/>
          </a:prstGeom>
        </p:spPr>
      </p:pic>
      <p:pic>
        <p:nvPicPr>
          <p:cNvPr id="41" name="Image 14" descr="preencoded.png">
            <a:extLst>
              <a:ext uri="{FF2B5EF4-FFF2-40B4-BE49-F238E27FC236}">
                <a16:creationId xmlns:a16="http://schemas.microsoft.com/office/drawing/2014/main" id="{21A8E58B-92B5-AA47-6D6C-3E8605716D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045" y="5228738"/>
            <a:ext cx="133350" cy="152400"/>
          </a:xfrm>
          <a:prstGeom prst="rect">
            <a:avLst/>
          </a:prstGeom>
        </p:spPr>
      </p:pic>
      <p:sp>
        <p:nvSpPr>
          <p:cNvPr id="42" name="Text 18">
            <a:extLst>
              <a:ext uri="{FF2B5EF4-FFF2-40B4-BE49-F238E27FC236}">
                <a16:creationId xmlns:a16="http://schemas.microsoft.com/office/drawing/2014/main" id="{DA810124-C7B5-BE53-2303-016783C9DC00}"/>
              </a:ext>
            </a:extLst>
          </p:cNvPr>
          <p:cNvSpPr/>
          <p:nvPr/>
        </p:nvSpPr>
        <p:spPr>
          <a:xfrm>
            <a:off x="1028700" y="5435752"/>
            <a:ext cx="453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Strategy: Inventory Clearence &amp; Basics</a:t>
            </a:r>
            <a:endParaRPr lang="en-US" sz="1200" dirty="0"/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5F9060D3-5E20-9CEE-70D4-7367A1F96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776" y="5699983"/>
            <a:ext cx="484034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      Hard </a:t>
            </a:r>
            <a:r>
              <a:rPr kumimoji="0" lang="tr-TR" altLang="tr-TR" sz="11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Discount</a:t>
            </a: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1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Coupons</a:t>
            </a: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Distribute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high-percentage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discount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coupons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(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e.g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., "50%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Off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") </a:t>
            </a:r>
            <a:endParaRPr lang="tr-TR" altLang="tr-TR" sz="1100" b="1" dirty="0">
              <a:solidFill>
                <a:srgbClr val="2C3E4F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      3-for-2" </a:t>
            </a:r>
            <a:r>
              <a:rPr kumimoji="0" lang="tr-TR" altLang="tr-TR" sz="11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Bundles</a:t>
            </a: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 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Use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"Buy 2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Get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1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Free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"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campaigns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on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basic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</a:rPr>
              <a:t>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</a:rPr>
              <a:t>items</a:t>
            </a:r>
            <a:endParaRPr kumimoji="0" lang="tr-TR" altLang="tr-TR" sz="11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410200" cy="1104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828800"/>
            <a:ext cx="447675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943100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95600"/>
            <a:ext cx="5410200" cy="1104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086100"/>
            <a:ext cx="4191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2004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152900"/>
            <a:ext cx="54102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4343400"/>
            <a:ext cx="4191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4577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209675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619250"/>
            <a:ext cx="5410200" cy="2819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4838700"/>
            <a:ext cx="5410200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1810" y="5019675"/>
            <a:ext cx="142875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70469" y="5248275"/>
            <a:ext cx="142875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829300"/>
            <a:ext cx="11277600" cy="762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0971" y="6010275"/>
            <a:ext cx="1143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Impact &amp; ROI (Return on Investment)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76200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Expected Outcomes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247775" y="1828800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Optimized Marketing Spend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247775" y="2095500"/>
            <a:ext cx="44291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Target the right message to the right person, reducing waste on irrelevant offers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219200" y="3086100"/>
            <a:ext cx="5349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Reduced Customer Churn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219200" y="33528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Identify at-risk customers and implement targeted retention strategies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219200" y="43434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Increased Revenue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1219200" y="46101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Convert more customers through personalized recommendations and targeted offers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662940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Strategic Impact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6477000" y="49911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The K-Means model identified 5 clear segments with a valid Silhouette Score of 0.55, enabling precise customer targeting 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09600" y="59817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 This project demonstrates how data science transforms raw numbers into strategic power, providing the mall with a clear roadmap to reduce churn and increase revenue through personalization.</a:t>
            </a:r>
            <a:endParaRPr lang="en-US" sz="1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6816944-2A27-29DF-A909-9F96D2350A34}"/>
              </a:ext>
            </a:extLst>
          </p:cNvPr>
          <p:cNvSpPr/>
          <p:nvPr/>
        </p:nvSpPr>
        <p:spPr>
          <a:xfrm>
            <a:off x="7687544" y="2247900"/>
            <a:ext cx="29281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ea typeface="ui-sans-serif" pitchFamily="34" charset="-122"/>
              </a:rPr>
              <a:t>Customer Segmentation ROI Journey</a:t>
            </a:r>
            <a:endParaRPr lang="en-US" sz="1350" dirty="0"/>
          </a:p>
        </p:txBody>
      </p:sp>
      <p:graphicFrame>
        <p:nvGraphicFramePr>
          <p:cNvPr id="35" name="Diyagram 34">
            <a:extLst>
              <a:ext uri="{FF2B5EF4-FFF2-40B4-BE49-F238E27FC236}">
                <a16:creationId xmlns:a16="http://schemas.microsoft.com/office/drawing/2014/main" id="{5989664D-D8DF-6378-E80C-034835F4E1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131394"/>
              </p:ext>
            </p:extLst>
          </p:nvPr>
        </p:nvGraphicFramePr>
        <p:xfrm>
          <a:off x="6621810" y="2092414"/>
          <a:ext cx="4902781" cy="2457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8246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9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00200"/>
            <a:ext cx="3530501" cy="3162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69545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1752600"/>
            <a:ext cx="17145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2098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2266950"/>
            <a:ext cx="1143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72415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2781300"/>
            <a:ext cx="17145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32385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3295650"/>
            <a:ext cx="1524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75285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3810000"/>
            <a:ext cx="13335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26720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" y="4324350"/>
            <a:ext cx="13335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4901" y="1209675"/>
            <a:ext cx="25717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4901" y="1638300"/>
            <a:ext cx="3568601" cy="144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35401" y="1828800"/>
            <a:ext cx="3429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1601" y="1933575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65902" y="1638300"/>
            <a:ext cx="3568750" cy="1447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56402" y="1828800"/>
            <a:ext cx="3429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602" y="1933575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44901" y="3238500"/>
            <a:ext cx="3568601" cy="1524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35401" y="3429000"/>
            <a:ext cx="3048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11601" y="3533775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65902" y="3238500"/>
            <a:ext cx="3568750" cy="1485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56402" y="3429000"/>
            <a:ext cx="3048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32602" y="3533775"/>
            <a:ext cx="1524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Project Summary &amp; Key Achievements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762000" y="1181100"/>
            <a:ext cx="3530501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CRISP-DM Implementation</a:t>
            </a:r>
            <a:endParaRPr lang="en-US" sz="1800" dirty="0"/>
          </a:p>
        </p:txBody>
      </p:sp>
      <p:sp>
        <p:nvSpPr>
          <p:cNvPr id="37" name="Text 2"/>
          <p:cNvSpPr/>
          <p:nvPr/>
        </p:nvSpPr>
        <p:spPr>
          <a:xfrm>
            <a:off x="1066800" y="1676400"/>
            <a:ext cx="2847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Understanding</a:t>
            </a:r>
            <a:endParaRPr lang="en-US" sz="1050" dirty="0"/>
          </a:p>
        </p:txBody>
      </p:sp>
      <p:sp>
        <p:nvSpPr>
          <p:cNvPr id="38" name="Text 3"/>
          <p:cNvSpPr/>
          <p:nvPr/>
        </p:nvSpPr>
        <p:spPr>
          <a:xfrm>
            <a:off x="1066800" y="1866900"/>
            <a:ext cx="28473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Identified inefficiency in marketing spend</a:t>
            </a:r>
            <a:endParaRPr lang="en-US" sz="900" dirty="0"/>
          </a:p>
        </p:txBody>
      </p:sp>
      <p:sp>
        <p:nvSpPr>
          <p:cNvPr id="39" name="Text 4"/>
          <p:cNvSpPr/>
          <p:nvPr/>
        </p:nvSpPr>
        <p:spPr>
          <a:xfrm>
            <a:off x="1066800" y="2190750"/>
            <a:ext cx="308092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Understanding</a:t>
            </a:r>
            <a:endParaRPr lang="en-US" sz="1050" dirty="0"/>
          </a:p>
        </p:txBody>
      </p:sp>
      <p:sp>
        <p:nvSpPr>
          <p:cNvPr id="40" name="Text 5"/>
          <p:cNvSpPr/>
          <p:nvPr/>
        </p:nvSpPr>
        <p:spPr>
          <a:xfrm>
            <a:off x="1066800" y="2381250"/>
            <a:ext cx="308092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Selected Annual Income and Spending Score</a:t>
            </a:r>
            <a:endParaRPr lang="en-US" sz="900" dirty="0"/>
          </a:p>
        </p:txBody>
      </p:sp>
      <p:sp>
        <p:nvSpPr>
          <p:cNvPr id="41" name="Text 6"/>
          <p:cNvSpPr/>
          <p:nvPr/>
        </p:nvSpPr>
        <p:spPr>
          <a:xfrm>
            <a:off x="1066800" y="2705100"/>
            <a:ext cx="24690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42" name="Text 7"/>
          <p:cNvSpPr/>
          <p:nvPr/>
        </p:nvSpPr>
        <p:spPr>
          <a:xfrm>
            <a:off x="1066800" y="2895600"/>
            <a:ext cx="24690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Cleaned feature matrix with pandas</a:t>
            </a:r>
            <a:endParaRPr lang="en-US" sz="900" dirty="0"/>
          </a:p>
        </p:txBody>
      </p:sp>
      <p:sp>
        <p:nvSpPr>
          <p:cNvPr id="43" name="Text 8"/>
          <p:cNvSpPr/>
          <p:nvPr/>
        </p:nvSpPr>
        <p:spPr>
          <a:xfrm>
            <a:off x="1066800" y="3219450"/>
            <a:ext cx="1949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Modeling</a:t>
            </a:r>
            <a:endParaRPr lang="en-US" sz="1050" dirty="0"/>
          </a:p>
        </p:txBody>
      </p:sp>
      <p:sp>
        <p:nvSpPr>
          <p:cNvPr id="44" name="Text 9"/>
          <p:cNvSpPr/>
          <p:nvPr/>
        </p:nvSpPr>
        <p:spPr>
          <a:xfrm>
            <a:off x="1066800" y="3409950"/>
            <a:ext cx="2339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K-Means clustering with 5 clusters</a:t>
            </a:r>
            <a:endParaRPr lang="en-US" sz="900" dirty="0"/>
          </a:p>
        </p:txBody>
      </p:sp>
      <p:sp>
        <p:nvSpPr>
          <p:cNvPr id="45" name="Text 10"/>
          <p:cNvSpPr/>
          <p:nvPr/>
        </p:nvSpPr>
        <p:spPr>
          <a:xfrm>
            <a:off x="1066800" y="3733800"/>
            <a:ext cx="16500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6" name="Text 11"/>
          <p:cNvSpPr/>
          <p:nvPr/>
        </p:nvSpPr>
        <p:spPr>
          <a:xfrm>
            <a:off x="1066800" y="3924300"/>
            <a:ext cx="165002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Silhouette Score of 0.55</a:t>
            </a:r>
            <a:endParaRPr lang="en-US" sz="900" dirty="0"/>
          </a:p>
        </p:txBody>
      </p:sp>
      <p:sp>
        <p:nvSpPr>
          <p:cNvPr id="47" name="Text 12"/>
          <p:cNvSpPr/>
          <p:nvPr/>
        </p:nvSpPr>
        <p:spPr>
          <a:xfrm>
            <a:off x="1066800" y="4248150"/>
            <a:ext cx="18285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48" name="Text 13"/>
          <p:cNvSpPr/>
          <p:nvPr/>
        </p:nvSpPr>
        <p:spPr>
          <a:xfrm>
            <a:off x="1066800" y="4438650"/>
            <a:ext cx="219420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Actionable marketing strategies</a:t>
            </a:r>
            <a:endParaRPr lang="en-US" sz="900" dirty="0"/>
          </a:p>
        </p:txBody>
      </p:sp>
      <p:sp>
        <p:nvSpPr>
          <p:cNvPr id="49" name="Text 14"/>
          <p:cNvSpPr/>
          <p:nvPr/>
        </p:nvSpPr>
        <p:spPr>
          <a:xfrm>
            <a:off x="4778276" y="1181100"/>
            <a:ext cx="7289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Key Achievements</a:t>
            </a:r>
            <a:endParaRPr lang="en-US" sz="1800" dirty="0"/>
          </a:p>
        </p:txBody>
      </p:sp>
      <p:sp>
        <p:nvSpPr>
          <p:cNvPr id="50" name="Text 15"/>
          <p:cNvSpPr/>
          <p:nvPr/>
        </p:nvSpPr>
        <p:spPr>
          <a:xfrm>
            <a:off x="5092601" y="1905000"/>
            <a:ext cx="31232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Validated Customer Segments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4635401" y="2324100"/>
            <a:ext cx="3187601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Successfully identified 5 clear customer segments with a Silhouette Score of 0.55, confirming mathematical distinctiveness</a:t>
            </a:r>
            <a:endParaRPr lang="en-US" sz="1050" dirty="0"/>
          </a:p>
        </p:txBody>
      </p:sp>
      <p:sp>
        <p:nvSpPr>
          <p:cNvPr id="52" name="Text 17"/>
          <p:cNvSpPr/>
          <p:nvPr/>
        </p:nvSpPr>
        <p:spPr>
          <a:xfrm>
            <a:off x="8813602" y="1905000"/>
            <a:ext cx="21057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Actionable Personas</a:t>
            </a: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8356402" y="2324100"/>
            <a:ext cx="31877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Translated mathematical clusters into 5 business personas: VIPs, Potentials, Standard, Impulsive, and Savers</a:t>
            </a:r>
            <a:endParaRPr lang="en-US" sz="1050" dirty="0"/>
          </a:p>
        </p:txBody>
      </p:sp>
      <p:sp>
        <p:nvSpPr>
          <p:cNvPr id="54" name="Text 19"/>
          <p:cNvSpPr/>
          <p:nvPr/>
        </p:nvSpPr>
        <p:spPr>
          <a:xfrm>
            <a:off x="5054501" y="3505200"/>
            <a:ext cx="20465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Targeted Strategies</a:t>
            </a: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4635401" y="3924300"/>
            <a:ext cx="3187601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Developed specific marketing approaches for each segment, including retention for VIPs, acquisition for Potentials, and conversion for Impulsives</a:t>
            </a:r>
            <a:endParaRPr lang="en-US" sz="1050" dirty="0"/>
          </a:p>
        </p:txBody>
      </p:sp>
      <p:sp>
        <p:nvSpPr>
          <p:cNvPr id="56" name="Text 21"/>
          <p:cNvSpPr/>
          <p:nvPr/>
        </p:nvSpPr>
        <p:spPr>
          <a:xfrm>
            <a:off x="8775502" y="3505200"/>
            <a:ext cx="16855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57" name="Text 22"/>
          <p:cNvSpPr/>
          <p:nvPr/>
        </p:nvSpPr>
        <p:spPr>
          <a:xfrm>
            <a:off x="8356402" y="3924300"/>
            <a:ext cx="3187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ea typeface="ui-sans-serif" pitchFamily="34" charset="-122"/>
                <a:cs typeface="ui-sans-serif" pitchFamily="34" charset="-120"/>
              </a:rPr>
              <a:t>Provided mall with a roadmap to optimize marketing spend by targeting the right message to the right person, reducing churn and increasing revenue</a:t>
            </a:r>
            <a:endParaRPr lang="en-US" sz="1050" dirty="0"/>
          </a:p>
        </p:txBody>
      </p:sp>
      <p:pic>
        <p:nvPicPr>
          <p:cNvPr id="62" name="Image 24" descr="preencoded.png">
            <a:extLst>
              <a:ext uri="{FF2B5EF4-FFF2-40B4-BE49-F238E27FC236}">
                <a16:creationId xmlns:a16="http://schemas.microsoft.com/office/drawing/2014/main" id="{B14E6BD0-3649-EBB8-BB54-42E4FC10394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4972050"/>
            <a:ext cx="11277452" cy="1759826"/>
          </a:xfrm>
          <a:prstGeom prst="rect">
            <a:avLst/>
          </a:prstGeom>
        </p:spPr>
      </p:pic>
      <p:pic>
        <p:nvPicPr>
          <p:cNvPr id="3" name="Image 13" descr="preencoded.png">
            <a:extLst>
              <a:ext uri="{FF2B5EF4-FFF2-40B4-BE49-F238E27FC236}">
                <a16:creationId xmlns:a16="http://schemas.microsoft.com/office/drawing/2014/main" id="{24BE7D5B-096B-EBF6-2C63-C6C36630C00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097216"/>
            <a:ext cx="228600" cy="228600"/>
          </a:xfrm>
          <a:prstGeom prst="rect">
            <a:avLst/>
          </a:prstGeom>
        </p:spPr>
      </p:pic>
      <p:sp>
        <p:nvSpPr>
          <p:cNvPr id="60" name="Text 14">
            <a:extLst>
              <a:ext uri="{FF2B5EF4-FFF2-40B4-BE49-F238E27FC236}">
                <a16:creationId xmlns:a16="http://schemas.microsoft.com/office/drawing/2014/main" id="{B79A5782-BF4A-F0CA-49D8-852CCD271708}"/>
              </a:ext>
            </a:extLst>
          </p:cNvPr>
          <p:cNvSpPr/>
          <p:nvPr/>
        </p:nvSpPr>
        <p:spPr>
          <a:xfrm>
            <a:off x="839611" y="5029200"/>
            <a:ext cx="7289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b="1" dirty="0">
                <a:solidFill>
                  <a:srgbClr val="7A9E7E"/>
                </a:solidFill>
                <a:ea typeface="ui-sans-serif" pitchFamily="34" charset="-122"/>
                <a:cs typeface="ui-sans-serif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1" name="Rectangle 1">
            <a:extLst>
              <a:ext uri="{FF2B5EF4-FFF2-40B4-BE49-F238E27FC236}">
                <a16:creationId xmlns:a16="http://schemas.microsoft.com/office/drawing/2014/main" id="{7460CBB1-CE16-C04F-49DA-6532FA0B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338652"/>
            <a:ext cx="1116315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In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this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project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we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aimed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solve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inefficiency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of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random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marketing.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By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applying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K-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Means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clustering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algorithm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we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discovered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that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our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customer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base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is not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uniform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but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consists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of 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5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distinct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personas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—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from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high-spending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'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VIPs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'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price-sensitive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'Budget'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shoppers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rgbClr val="2C3E4F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This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segmentation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provides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clear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roadmap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for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mall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management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.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We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have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proven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that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data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science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is not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just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about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coding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; it is a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strategic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tool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that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 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lowers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costs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,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increases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customer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retention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,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and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drives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revenue</a:t>
            </a: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.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 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We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are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now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ready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deploy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these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strategies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turn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potential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into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profit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2C3E4F"/>
                </a:solidFill>
                <a:effectLst/>
                <a:latin typeface="+mn-lt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65099A8-CF30-8A47-F3C3-A146FEFF17EB}"/>
              </a:ext>
            </a:extLst>
          </p:cNvPr>
          <p:cNvSpPr/>
          <p:nvPr/>
        </p:nvSpPr>
        <p:spPr>
          <a:xfrm>
            <a:off x="2106930" y="2971800"/>
            <a:ext cx="7978140" cy="3032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7200" b="1" dirty="0">
                <a:solidFill>
                  <a:srgbClr val="2C3E50"/>
                </a:solidFill>
                <a:ea typeface="ui-sans-serif" pitchFamily="34" charset="-122"/>
              </a:rPr>
              <a:t>Thank You.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sz="7200" b="1" dirty="0">
              <a:solidFill>
                <a:srgbClr val="2C3E50"/>
              </a:solidFill>
              <a:ea typeface="ui-sans-serif" pitchFamily="34" charset="-122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sz="7200" b="1" dirty="0">
                <a:solidFill>
                  <a:srgbClr val="2C3E50"/>
                </a:solidFill>
                <a:ea typeface="ui-sans-serif" pitchFamily="34" charset="-122"/>
              </a:rPr>
              <a:t>Any Questions?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sz="2700" b="1" dirty="0">
              <a:solidFill>
                <a:srgbClr val="2C3E50"/>
              </a:solidFill>
              <a:ea typeface="ui-sans-serif" pitchFamily="34" charset="-122"/>
            </a:endParaRPr>
          </a:p>
          <a:p>
            <a:pPr marL="0" indent="0" algn="ctr">
              <a:lnSpc>
                <a:spcPts val="3000"/>
              </a:lnSpc>
              <a:buNone/>
            </a:pPr>
            <a:endParaRPr lang="en-US" sz="2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2999</Words>
  <Application>Microsoft Macintosh PowerPoint</Application>
  <PresentationFormat>Geniş ekran</PresentationFormat>
  <Paragraphs>469</Paragraphs>
  <Slides>24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31" baseType="lpstr">
      <vt:lpstr>Arial</vt:lpstr>
      <vt:lpstr>Courier New</vt:lpstr>
      <vt:lpstr>Google Sans Text</vt:lpstr>
      <vt:lpstr>Menlo</vt:lpstr>
      <vt:lpstr>ui-monospace</vt:lpstr>
      <vt:lpstr>ui-sans-serif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Şevval Öner</cp:lastModifiedBy>
  <cp:revision>12</cp:revision>
  <dcterms:created xsi:type="dcterms:W3CDTF">2025-12-20T15:50:59Z</dcterms:created>
  <dcterms:modified xsi:type="dcterms:W3CDTF">2025-12-24T10:53:29Z</dcterms:modified>
</cp:coreProperties>
</file>